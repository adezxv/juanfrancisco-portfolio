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8" r:id="rId2"/>
    <p:sldId id="257" r:id="rId3"/>
    <p:sldId id="259" r:id="rId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p:scale>
          <a:sx n="100" d="100"/>
          <a:sy n="100" d="100"/>
        </p:scale>
        <p:origin x="-1608" y="-72"/>
      </p:cViewPr>
      <p:guideLst>
        <p:guide orient="horz" pos="2880"/>
        <p:guide pos="2160"/>
      </p:guideLst>
    </p:cSldViewPr>
  </p:slideViewPr>
  <p:notesTextViewPr>
    <p:cViewPr>
      <p:scale>
        <a:sx n="1" d="1"/>
        <a:sy n="1" d="1"/>
      </p:scale>
      <p:origin x="0" y="0"/>
    </p:cViewPr>
  </p:notesTextViewPr>
  <p:sorterViewPr>
    <p:cViewPr>
      <p:scale>
        <a:sx n="200" d="100"/>
        <a:sy n="200" d="100"/>
      </p:scale>
      <p:origin x="0" y="0"/>
    </p:cViewPr>
  </p:sorterViewPr>
  <p:notesViewPr>
    <p:cSldViewPr>
      <p:cViewPr varScale="1">
        <p:scale>
          <a:sx n="75" d="100"/>
          <a:sy n="75" d="100"/>
        </p:scale>
        <p:origin x="-29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D95FE00-D592-4F0E-B8B8-2C680DC1976F}" type="datetimeFigureOut">
              <a:rPr lang="es-MX" smtClean="0"/>
              <a:t>21/03/2024</a:t>
            </a:fld>
            <a:endParaRPr lang="es-MX"/>
          </a:p>
        </p:txBody>
      </p:sp>
      <p:sp>
        <p:nvSpPr>
          <p:cNvPr id="4" name="3 Marcador de imagen de diapositiva"/>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s-MX"/>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2C3445-A093-482C-8893-5BA921828E40}" type="slidenum">
              <a:rPr lang="es-MX" smtClean="0"/>
              <a:t>‹Nº›</a:t>
            </a:fld>
            <a:endParaRPr lang="es-MX"/>
          </a:p>
        </p:txBody>
      </p:sp>
    </p:spTree>
    <p:extLst>
      <p:ext uri="{BB962C8B-B14F-4D97-AF65-F5344CB8AC3E}">
        <p14:creationId xmlns:p14="http://schemas.microsoft.com/office/powerpoint/2010/main" val="2358190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MX"/>
          </a:p>
        </p:txBody>
      </p:sp>
      <p:sp>
        <p:nvSpPr>
          <p:cNvPr id="4" name="3 Marcador de número de diapositiva"/>
          <p:cNvSpPr>
            <a:spLocks noGrp="1"/>
          </p:cNvSpPr>
          <p:nvPr>
            <p:ph type="sldNum" sz="quarter" idx="10"/>
          </p:nvPr>
        </p:nvSpPr>
        <p:spPr/>
        <p:txBody>
          <a:bodyPr/>
          <a:lstStyle/>
          <a:p>
            <a:fld id="{D82C3445-A093-482C-8893-5BA921828E40}" type="slidenum">
              <a:rPr lang="es-MX" smtClean="0"/>
              <a:t>2</a:t>
            </a:fld>
            <a:endParaRPr lang="es-MX"/>
          </a:p>
        </p:txBody>
      </p:sp>
    </p:spTree>
    <p:extLst>
      <p:ext uri="{BB962C8B-B14F-4D97-AF65-F5344CB8AC3E}">
        <p14:creationId xmlns:p14="http://schemas.microsoft.com/office/powerpoint/2010/main" val="144205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840568"/>
            <a:ext cx="5829300" cy="1960033"/>
          </a:xfrm>
        </p:spPr>
        <p:txBody>
          <a:bodyPr/>
          <a:lstStyle/>
          <a:p>
            <a:r>
              <a:rPr lang="en-US" smtClean="0"/>
              <a:t>Click to edit Master title style</a:t>
            </a:r>
            <a:endParaRPr lang="en-US"/>
          </a:p>
        </p:txBody>
      </p:sp>
      <p:sp>
        <p:nvSpPr>
          <p:cNvPr id="3" name="Subtitl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BBDCC9B-6C7C-47C3-A724-E2FAE0F9036D}" type="datetimeFigureOut">
              <a:rPr lang="en-US" smtClean="0"/>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0C4FE-8DAC-4220-9CB8-676FA6D4D2C0}" type="slidenum">
              <a:rPr lang="en-US" smtClean="0"/>
              <a:t>‹Nº›</a:t>
            </a:fld>
            <a:endParaRPr lang="en-US"/>
          </a:p>
        </p:txBody>
      </p:sp>
    </p:spTree>
    <p:extLst>
      <p:ext uri="{BB962C8B-B14F-4D97-AF65-F5344CB8AC3E}">
        <p14:creationId xmlns:p14="http://schemas.microsoft.com/office/powerpoint/2010/main" val="27877126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BBDCC9B-6C7C-47C3-A724-E2FAE0F9036D}" type="datetimeFigureOut">
              <a:rPr lang="en-US" smtClean="0"/>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0C4FE-8DAC-4220-9CB8-676FA6D4D2C0}" type="slidenum">
              <a:rPr lang="en-US" smtClean="0"/>
              <a:t>‹Nº›</a:t>
            </a:fld>
            <a:endParaRPr lang="en-US"/>
          </a:p>
        </p:txBody>
      </p:sp>
    </p:spTree>
    <p:extLst>
      <p:ext uri="{BB962C8B-B14F-4D97-AF65-F5344CB8AC3E}">
        <p14:creationId xmlns:p14="http://schemas.microsoft.com/office/powerpoint/2010/main" val="2564676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5875867"/>
            <a:ext cx="5829300" cy="181610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BBDCC9B-6C7C-47C3-A724-E2FAE0F9036D}" type="datetimeFigureOut">
              <a:rPr lang="en-US" smtClean="0"/>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0C4FE-8DAC-4220-9CB8-676FA6D4D2C0}" type="slidenum">
              <a:rPr lang="en-US" smtClean="0"/>
              <a:t>‹Nº›</a:t>
            </a:fld>
            <a:endParaRPr lang="en-US"/>
          </a:p>
        </p:txBody>
      </p:sp>
    </p:spTree>
    <p:extLst>
      <p:ext uri="{BB962C8B-B14F-4D97-AF65-F5344CB8AC3E}">
        <p14:creationId xmlns:p14="http://schemas.microsoft.com/office/powerpoint/2010/main" val="561183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4290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48615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BBDCC9B-6C7C-47C3-A724-E2FAE0F9036D}" type="datetimeFigureOut">
              <a:rPr lang="en-US" smtClean="0"/>
              <a:t>3/21/2024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B0C4FE-8DAC-4220-9CB8-676FA6D4D2C0}" type="slidenum">
              <a:rPr lang="en-US" smtClean="0"/>
              <a:t>‹Nº›</a:t>
            </a:fld>
            <a:endParaRPr lang="en-US"/>
          </a:p>
        </p:txBody>
      </p:sp>
    </p:spTree>
    <p:extLst>
      <p:ext uri="{BB962C8B-B14F-4D97-AF65-F5344CB8AC3E}">
        <p14:creationId xmlns:p14="http://schemas.microsoft.com/office/powerpoint/2010/main" val="238991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BBDCC9B-6C7C-47C3-A724-E2FAE0F9036D}" type="datetimeFigureOut">
              <a:rPr lang="en-US" smtClean="0"/>
              <a:t>3/21/2024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B0C4FE-8DAC-4220-9CB8-676FA6D4D2C0}" type="slidenum">
              <a:rPr lang="en-US" smtClean="0"/>
              <a:t>‹Nº›</a:t>
            </a:fld>
            <a:endParaRPr lang="en-US"/>
          </a:p>
        </p:txBody>
      </p:sp>
    </p:spTree>
    <p:extLst>
      <p:ext uri="{BB962C8B-B14F-4D97-AF65-F5344CB8AC3E}">
        <p14:creationId xmlns:p14="http://schemas.microsoft.com/office/powerpoint/2010/main" val="4057044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BBDCC9B-6C7C-47C3-A724-E2FAE0F9036D}" type="datetimeFigureOut">
              <a:rPr lang="en-US" smtClean="0"/>
              <a:t>3/21/2024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B0C4FE-8DAC-4220-9CB8-676FA6D4D2C0}" type="slidenum">
              <a:rPr lang="en-US" smtClean="0"/>
              <a:t>‹Nº›</a:t>
            </a:fld>
            <a:endParaRPr lang="en-US"/>
          </a:p>
        </p:txBody>
      </p:sp>
    </p:spTree>
    <p:extLst>
      <p:ext uri="{BB962C8B-B14F-4D97-AF65-F5344CB8AC3E}">
        <p14:creationId xmlns:p14="http://schemas.microsoft.com/office/powerpoint/2010/main" val="3020528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BDCC9B-6C7C-47C3-A724-E2FAE0F9036D}" type="datetimeFigureOut">
              <a:rPr lang="en-US" smtClean="0"/>
              <a:t>3/21/2024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B0C4FE-8DAC-4220-9CB8-676FA6D4D2C0}" type="slidenum">
              <a:rPr lang="en-US" smtClean="0"/>
              <a:t>‹Nº›</a:t>
            </a:fld>
            <a:endParaRPr lang="en-US"/>
          </a:p>
        </p:txBody>
      </p:sp>
    </p:spTree>
    <p:extLst>
      <p:ext uri="{BB962C8B-B14F-4D97-AF65-F5344CB8AC3E}">
        <p14:creationId xmlns:p14="http://schemas.microsoft.com/office/powerpoint/2010/main" val="40727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4067"/>
            <a:ext cx="2256235" cy="154940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BBDCC9B-6C7C-47C3-A724-E2FAE0F9036D}" type="datetimeFigureOut">
              <a:rPr lang="en-US" smtClean="0"/>
              <a:t>3/21/2024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B0C4FE-8DAC-4220-9CB8-676FA6D4D2C0}" type="slidenum">
              <a:rPr lang="en-US" smtClean="0"/>
              <a:t>‹Nº›</a:t>
            </a:fld>
            <a:endParaRPr lang="en-US"/>
          </a:p>
        </p:txBody>
      </p:sp>
    </p:spTree>
    <p:extLst>
      <p:ext uri="{BB962C8B-B14F-4D97-AF65-F5344CB8AC3E}">
        <p14:creationId xmlns:p14="http://schemas.microsoft.com/office/powerpoint/2010/main" val="519079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6400800"/>
            <a:ext cx="4114800" cy="755651"/>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BBDCC9B-6C7C-47C3-A724-E2FAE0F9036D}" type="datetimeFigureOut">
              <a:rPr lang="en-US" smtClean="0"/>
              <a:t>3/21/2024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B0C4FE-8DAC-4220-9CB8-676FA6D4D2C0}" type="slidenum">
              <a:rPr lang="en-US" smtClean="0"/>
              <a:t>‹Nº›</a:t>
            </a:fld>
            <a:endParaRPr lang="en-US"/>
          </a:p>
        </p:txBody>
      </p:sp>
    </p:spTree>
    <p:extLst>
      <p:ext uri="{BB962C8B-B14F-4D97-AF65-F5344CB8AC3E}">
        <p14:creationId xmlns:p14="http://schemas.microsoft.com/office/powerpoint/2010/main" val="2181637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BBDCC9B-6C7C-47C3-A724-E2FAE0F9036D}" type="datetimeFigureOut">
              <a:rPr lang="en-US" smtClean="0"/>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0C4FE-8DAC-4220-9CB8-676FA6D4D2C0}" type="slidenum">
              <a:rPr lang="en-US" smtClean="0"/>
              <a:t>‹Nº›</a:t>
            </a:fld>
            <a:endParaRPr lang="en-US"/>
          </a:p>
        </p:txBody>
      </p:sp>
    </p:spTree>
    <p:extLst>
      <p:ext uri="{BB962C8B-B14F-4D97-AF65-F5344CB8AC3E}">
        <p14:creationId xmlns:p14="http://schemas.microsoft.com/office/powerpoint/2010/main" val="498047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366185"/>
            <a:ext cx="1543050" cy="780203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42900" y="366185"/>
            <a:ext cx="4514850" cy="780203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BBDCC9B-6C7C-47C3-A724-E2FAE0F9036D}" type="datetimeFigureOut">
              <a:rPr lang="en-US" smtClean="0"/>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0C4FE-8DAC-4220-9CB8-676FA6D4D2C0}" type="slidenum">
              <a:rPr lang="en-US" smtClean="0"/>
              <a:t>‹Nº›</a:t>
            </a:fld>
            <a:endParaRPr lang="en-US"/>
          </a:p>
        </p:txBody>
      </p:sp>
    </p:spTree>
    <p:extLst>
      <p:ext uri="{BB962C8B-B14F-4D97-AF65-F5344CB8AC3E}">
        <p14:creationId xmlns:p14="http://schemas.microsoft.com/office/powerpoint/2010/main" val="327373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ABBDCC9B-6C7C-47C3-A724-E2FAE0F9036D}" type="datetimeFigureOut">
              <a:rPr lang="en-US" smtClean="0"/>
              <a:t>3/21/2024</a:t>
            </a:fld>
            <a:endParaRPr lang="en-US"/>
          </a:p>
        </p:txBody>
      </p:sp>
      <p:sp>
        <p:nvSpPr>
          <p:cNvPr id="5" name="Footer Placeholder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B1B0C4FE-8DAC-4220-9CB8-676FA6D4D2C0}" type="slidenum">
              <a:rPr lang="en-US" smtClean="0"/>
              <a:t>‹Nº›</a:t>
            </a:fld>
            <a:endParaRPr lang="en-US"/>
          </a:p>
        </p:txBody>
      </p:sp>
    </p:spTree>
    <p:extLst>
      <p:ext uri="{BB962C8B-B14F-4D97-AF65-F5344CB8AC3E}">
        <p14:creationId xmlns:p14="http://schemas.microsoft.com/office/powerpoint/2010/main" val="231036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492263" y="1788535"/>
            <a:ext cx="1078992" cy="0"/>
          </a:xfrm>
          <a:prstGeom prst="line">
            <a:avLst/>
          </a:prstGeom>
          <a:noFill/>
          <a:ln w="50800" cap="flat" cmpd="sng" algn="ctr">
            <a:solidFill>
              <a:srgbClr val="000000"/>
            </a:solidFill>
            <a:prstDash val="solid"/>
            <a:miter lim="800000"/>
          </a:ln>
          <a:effectLst/>
        </p:spPr>
      </p:cxnSp>
      <p:sp>
        <p:nvSpPr>
          <p:cNvPr id="8" name="Text Placeholder 33">
            <a:extLst>
              <a:ext uri="{FF2B5EF4-FFF2-40B4-BE49-F238E27FC236}">
                <a16:creationId xmlns="" xmlns:a16="http://schemas.microsoft.com/office/drawing/2014/main" id="{17688882-022C-FE60-CD8B-8E84FE4A6395}"/>
              </a:ext>
            </a:extLst>
          </p:cNvPr>
          <p:cNvSpPr txBox="1">
            <a:spLocks/>
          </p:cNvSpPr>
          <p:nvPr/>
        </p:nvSpPr>
        <p:spPr>
          <a:xfrm>
            <a:off x="412782" y="1846602"/>
            <a:ext cx="2330450" cy="280987"/>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400" kern="1200" cap="all" baseline="0">
                <a:solidFill>
                  <a:schemeClr val="tx1"/>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1400" b="0" i="0" u="none" strike="noStrike" kern="1200" cap="all" spc="0" normalizeH="0" baseline="0" noProof="0" dirty="0" smtClean="0">
                <a:ln>
                  <a:noFill/>
                </a:ln>
                <a:solidFill>
                  <a:srgbClr val="000000"/>
                </a:solidFill>
                <a:effectLst/>
                <a:uLnTx/>
                <a:uFillTx/>
                <a:latin typeface="Arial Black"/>
                <a:ea typeface="+mn-ea"/>
                <a:cs typeface="+mn-cs"/>
              </a:rPr>
              <a:t>CONTACT</a:t>
            </a:r>
            <a:endParaRPr kumimoji="0" lang="en-US" sz="1400" b="0" i="0" u="none" strike="noStrike" kern="1200" cap="all" spc="0" normalizeH="0" baseline="0" noProof="0" dirty="0">
              <a:ln>
                <a:noFill/>
              </a:ln>
              <a:solidFill>
                <a:srgbClr val="000000"/>
              </a:solidFill>
              <a:effectLst/>
              <a:uLnTx/>
              <a:uFillTx/>
              <a:latin typeface="Arial Black"/>
              <a:ea typeface="+mn-ea"/>
              <a:cs typeface="+mn-cs"/>
            </a:endParaRPr>
          </a:p>
        </p:txBody>
      </p:sp>
      <p:sp>
        <p:nvSpPr>
          <p:cNvPr id="10" name="Text Placeholder 39">
            <a:extLst>
              <a:ext uri="{FF2B5EF4-FFF2-40B4-BE49-F238E27FC236}">
                <a16:creationId xmlns="" xmlns:a16="http://schemas.microsoft.com/office/drawing/2014/main" id="{301773B6-B2F1-1C08-9FDE-63FC20420F90}"/>
              </a:ext>
            </a:extLst>
          </p:cNvPr>
          <p:cNvSpPr txBox="1">
            <a:spLocks/>
          </p:cNvSpPr>
          <p:nvPr/>
        </p:nvSpPr>
        <p:spPr>
          <a:xfrm>
            <a:off x="406030" y="2158606"/>
            <a:ext cx="2878954" cy="834740"/>
          </a:xfrm>
          <a:prstGeom prst="rect">
            <a:avLst/>
          </a:prstGeom>
        </p:spPr>
        <p:txBody>
          <a:bodyPr vert="horz" lIns="91440" tIns="45720" rIns="91440" bIns="45720" rtlCol="0">
            <a:noAutofit/>
          </a:bodyPr>
          <a:lstStyle>
            <a:lvl1pPr marL="0" indent="0" algn="l" defTabSz="685800" rtl="0" eaLnBrk="1" latinLnBrk="0" hangingPunct="1">
              <a:lnSpc>
                <a:spcPts val="1000"/>
              </a:lnSpc>
              <a:spcBef>
                <a:spcPts val="750"/>
              </a:spcBef>
              <a:buFont typeface="Arial" panose="020B0604020202020204" pitchFamily="34" charset="0"/>
              <a:buNone/>
              <a:defRPr sz="10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ts val="1000"/>
              </a:lnSpc>
              <a:spcBef>
                <a:spcPts val="750"/>
              </a:spcBef>
              <a:spcAft>
                <a:spcPts val="0"/>
              </a:spcAft>
              <a:buClrTx/>
              <a:buSzTx/>
              <a:buFont typeface="Arial" panose="020B0604020202020204" pitchFamily="34" charset="0"/>
              <a:buNone/>
              <a:tabLst/>
              <a:defRPr/>
            </a:pPr>
            <a:r>
              <a:rPr kumimoji="0" lang="en-US" sz="1200" b="0" i="0" u="none" strike="noStrike" kern="1200" cap="none" spc="0" normalizeH="0" baseline="0" noProof="0" dirty="0" smtClean="0">
                <a:ln>
                  <a:noFill/>
                </a:ln>
                <a:solidFill>
                  <a:srgbClr val="000000"/>
                </a:solidFill>
                <a:effectLst/>
                <a:uLnTx/>
                <a:uFillTx/>
                <a:latin typeface="Arial"/>
                <a:ea typeface="+mn-ea"/>
                <a:cs typeface="+mn-cs"/>
              </a:rPr>
              <a:t>+52 667 206 1050</a:t>
            </a:r>
          </a:p>
          <a:p>
            <a:pPr marL="0" marR="0" lvl="0" indent="0" algn="l" defTabSz="685800" rtl="0" eaLnBrk="1" fontAlgn="auto" latinLnBrk="0" hangingPunct="1">
              <a:lnSpc>
                <a:spcPts val="1000"/>
              </a:lnSpc>
              <a:spcBef>
                <a:spcPts val="750"/>
              </a:spcBef>
              <a:spcAft>
                <a:spcPts val="0"/>
              </a:spcAft>
              <a:buClrTx/>
              <a:buSzTx/>
              <a:buFont typeface="Arial" panose="020B0604020202020204" pitchFamily="34" charset="0"/>
              <a:buNone/>
              <a:tabLst/>
              <a:defRPr/>
            </a:pPr>
            <a:r>
              <a:rPr kumimoji="0" lang="en-US" sz="1200" b="0" i="0" u="none" strike="noStrike" kern="1200" cap="none" spc="0" normalizeH="0" baseline="0" noProof="0" dirty="0" smtClean="0">
                <a:ln>
                  <a:noFill/>
                </a:ln>
                <a:solidFill>
                  <a:srgbClr val="000000"/>
                </a:solidFill>
                <a:effectLst/>
                <a:uLnTx/>
                <a:uFillTx/>
                <a:latin typeface="Arial"/>
                <a:ea typeface="+mn-ea"/>
                <a:cs typeface="+mn-cs"/>
              </a:rPr>
              <a:t>juanlugo84@hotmail.com</a:t>
            </a:r>
          </a:p>
          <a:p>
            <a:pPr marL="0" marR="0" lvl="0" indent="0" algn="l" defTabSz="685800" rtl="0" eaLnBrk="1" fontAlgn="auto" latinLnBrk="0" hangingPunct="1">
              <a:lnSpc>
                <a:spcPts val="1000"/>
              </a:lnSpc>
              <a:spcBef>
                <a:spcPts val="750"/>
              </a:spcBef>
              <a:spcAft>
                <a:spcPts val="0"/>
              </a:spcAft>
              <a:buClrTx/>
              <a:buSzTx/>
              <a:buFont typeface="Arial" panose="020B0604020202020204" pitchFamily="34" charset="0"/>
              <a:buNone/>
              <a:tabLst/>
              <a:defRPr/>
            </a:pPr>
            <a:r>
              <a:rPr kumimoji="0" lang="en-US" sz="1200" b="0" i="0" u="none" strike="noStrike" kern="1200" cap="none" spc="0" normalizeH="0" baseline="0" noProof="0" dirty="0" smtClean="0">
                <a:ln>
                  <a:noFill/>
                </a:ln>
                <a:solidFill>
                  <a:srgbClr val="000000"/>
                </a:solidFill>
                <a:effectLst/>
                <a:uLnTx/>
                <a:uFillTx/>
                <a:latin typeface="Arial"/>
                <a:ea typeface="+mn-ea"/>
                <a:cs typeface="+mn-cs"/>
              </a:rPr>
              <a:t>https://www.instagram.com/eljuanultra/</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13" name="Text Placeholder 39">
            <a:extLst>
              <a:ext uri="{FF2B5EF4-FFF2-40B4-BE49-F238E27FC236}">
                <a16:creationId xmlns="" xmlns:a16="http://schemas.microsoft.com/office/drawing/2014/main" id="{301773B6-B2F1-1C08-9FDE-63FC20420F90}"/>
              </a:ext>
            </a:extLst>
          </p:cNvPr>
          <p:cNvSpPr txBox="1">
            <a:spLocks/>
          </p:cNvSpPr>
          <p:nvPr/>
        </p:nvSpPr>
        <p:spPr>
          <a:xfrm>
            <a:off x="406030" y="3262292"/>
            <a:ext cx="2479600" cy="2101796"/>
          </a:xfrm>
          <a:prstGeom prst="rect">
            <a:avLst/>
          </a:prstGeom>
        </p:spPr>
        <p:txBody>
          <a:bodyPr vert="horz" lIns="91440" tIns="45720" rIns="91440" bIns="45720" rtlCol="0">
            <a:noAutofit/>
          </a:bodyPr>
          <a:lstStyle>
            <a:lvl1pPr marL="0" indent="0" algn="l" defTabSz="685800" rtl="0" eaLnBrk="1" latinLnBrk="0" hangingPunct="1">
              <a:lnSpc>
                <a:spcPts val="1000"/>
              </a:lnSpc>
              <a:spcBef>
                <a:spcPts val="750"/>
              </a:spcBef>
              <a:buFont typeface="Arial" panose="020B0604020202020204" pitchFamily="34" charset="0"/>
              <a:buNone/>
              <a:defRPr sz="10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200"/>
              </a:spcBef>
            </a:pPr>
            <a:r>
              <a:rPr lang="es-MX" sz="1200" b="1" dirty="0"/>
              <a:t>2018</a:t>
            </a:r>
            <a:r>
              <a:rPr lang="es-MX" sz="1200" dirty="0"/>
              <a:t> </a:t>
            </a:r>
            <a:r>
              <a:rPr lang="es-MX" sz="1200" dirty="0" smtClean="0"/>
              <a:t>MBA, </a:t>
            </a:r>
            <a:r>
              <a:rPr lang="es-MX" sz="1200" dirty="0"/>
              <a:t>Master of Business </a:t>
            </a:r>
            <a:r>
              <a:rPr lang="es-MX" sz="1200" dirty="0" err="1"/>
              <a:t>Administration</a:t>
            </a:r>
            <a:r>
              <a:rPr lang="es-MX" sz="1200" dirty="0"/>
              <a:t>.</a:t>
            </a:r>
            <a:endParaRPr lang="es-MX" sz="1200" dirty="0" smtClean="0"/>
          </a:p>
          <a:p>
            <a:pPr>
              <a:spcBef>
                <a:spcPts val="200"/>
              </a:spcBef>
            </a:pPr>
            <a:r>
              <a:rPr lang="es-MX" sz="1200" dirty="0" smtClean="0"/>
              <a:t>Instituto </a:t>
            </a:r>
            <a:r>
              <a:rPr lang="es-MX" sz="1200" dirty="0"/>
              <a:t>Tecnológico Y De Estudios Superiores De Monterrey. </a:t>
            </a:r>
            <a:r>
              <a:rPr lang="en-US" sz="1200" dirty="0" smtClean="0"/>
              <a:t>Mexico</a:t>
            </a:r>
          </a:p>
          <a:p>
            <a:pPr>
              <a:spcBef>
                <a:spcPts val="200"/>
              </a:spcBef>
            </a:pPr>
            <a:r>
              <a:rPr lang="en-US" sz="1200" b="1" dirty="0" smtClean="0"/>
              <a:t>2021 </a:t>
            </a:r>
            <a:r>
              <a:rPr lang="en-US" sz="1200" dirty="0" smtClean="0"/>
              <a:t>Cybersecurity / Data privacy Certification </a:t>
            </a:r>
            <a:r>
              <a:rPr lang="en-US" sz="1200" dirty="0" err="1" smtClean="0"/>
              <a:t>NextEra</a:t>
            </a:r>
            <a:r>
              <a:rPr lang="en-US" sz="1200" dirty="0" smtClean="0"/>
              <a:t> Energy</a:t>
            </a:r>
          </a:p>
          <a:p>
            <a:pPr>
              <a:spcBef>
                <a:spcPts val="200"/>
              </a:spcBef>
            </a:pPr>
            <a:r>
              <a:rPr lang="en-US" sz="1200" b="1" dirty="0" smtClean="0"/>
              <a:t>2019</a:t>
            </a:r>
            <a:r>
              <a:rPr lang="en-US" sz="1200" dirty="0" smtClean="0"/>
              <a:t> IT Support Engineer Certification DELL EMC</a:t>
            </a:r>
            <a:endParaRPr lang="en-US" sz="1200" dirty="0"/>
          </a:p>
          <a:p>
            <a:pPr>
              <a:spcBef>
                <a:spcPts val="200"/>
              </a:spcBef>
            </a:pPr>
            <a:r>
              <a:rPr lang="en-US" sz="1200" b="1" dirty="0"/>
              <a:t>2008</a:t>
            </a:r>
            <a:r>
              <a:rPr lang="en-US" sz="1200" dirty="0"/>
              <a:t> English Language Immigrant Services Society Language College Of British Columbia, Vancouver, </a:t>
            </a:r>
            <a:r>
              <a:rPr lang="en-US" sz="1200" dirty="0" smtClean="0"/>
              <a:t>Canada</a:t>
            </a:r>
            <a:endParaRPr lang="en-US" sz="1200" dirty="0"/>
          </a:p>
          <a:p>
            <a:pPr>
              <a:spcBef>
                <a:spcPts val="200"/>
              </a:spcBef>
            </a:pPr>
            <a:r>
              <a:rPr lang="es-MX" sz="1200" b="1" dirty="0"/>
              <a:t>2007</a:t>
            </a:r>
            <a:r>
              <a:rPr lang="es-MX" sz="1200" dirty="0"/>
              <a:t> Industrial </a:t>
            </a:r>
            <a:r>
              <a:rPr lang="es-MX" sz="1200" dirty="0" err="1"/>
              <a:t>Engineering</a:t>
            </a:r>
            <a:r>
              <a:rPr lang="es-MX" sz="1200" dirty="0"/>
              <a:t> Universidad De Occidente, </a:t>
            </a:r>
            <a:r>
              <a:rPr lang="es-MX" sz="1200" dirty="0" err="1" smtClean="0"/>
              <a:t>Mexico</a:t>
            </a:r>
            <a:endParaRPr lang="en-US" sz="1200" dirty="0"/>
          </a:p>
          <a:p>
            <a:pPr>
              <a:spcBef>
                <a:spcPts val="200"/>
              </a:spcBef>
            </a:pPr>
            <a:r>
              <a:rPr lang="es-MX" sz="1200" b="1" dirty="0"/>
              <a:t>2000</a:t>
            </a:r>
            <a:r>
              <a:rPr lang="es-MX" sz="1200" dirty="0"/>
              <a:t> IT </a:t>
            </a:r>
            <a:r>
              <a:rPr lang="es-MX" sz="1200" dirty="0" err="1"/>
              <a:t>Technician</a:t>
            </a:r>
            <a:r>
              <a:rPr lang="es-MX" sz="1200" dirty="0"/>
              <a:t> Centro De Estudios </a:t>
            </a:r>
            <a:r>
              <a:rPr lang="es-MX" sz="1200" dirty="0" err="1"/>
              <a:t>Tecnicos</a:t>
            </a:r>
            <a:r>
              <a:rPr lang="es-MX" sz="1200" dirty="0"/>
              <a:t> Computacionales, </a:t>
            </a:r>
            <a:r>
              <a:rPr lang="es-MX" sz="1200" dirty="0" err="1" smtClean="0"/>
              <a:t>Mexico</a:t>
            </a:r>
            <a:endParaRPr lang="en-US" sz="1200" dirty="0"/>
          </a:p>
        </p:txBody>
      </p:sp>
      <p:sp>
        <p:nvSpPr>
          <p:cNvPr id="14" name="Title 32">
            <a:extLst>
              <a:ext uri="{FF2B5EF4-FFF2-40B4-BE49-F238E27FC236}">
                <a16:creationId xmlns="" xmlns:a16="http://schemas.microsoft.com/office/drawing/2014/main" id="{19A55027-3021-274A-9021-85324A76B1B1}"/>
              </a:ext>
            </a:extLst>
          </p:cNvPr>
          <p:cNvSpPr txBox="1">
            <a:spLocks/>
          </p:cNvSpPr>
          <p:nvPr/>
        </p:nvSpPr>
        <p:spPr>
          <a:xfrm>
            <a:off x="419658" y="179845"/>
            <a:ext cx="2330450" cy="1767417"/>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4000" kern="1200" cap="all" baseline="0">
                <a:solidFill>
                  <a:schemeClr val="tx1"/>
                </a:solidFill>
                <a:latin typeface="+mj-lt"/>
                <a:ea typeface="+mj-ea"/>
                <a:cs typeface="+mj-cs"/>
              </a:defRPr>
            </a:lvl1pPr>
          </a:lstStyle>
          <a:p>
            <a:pPr marL="0" marR="0" lvl="0" indent="0" defTabSz="685800" rtl="0" eaLnBrk="1" fontAlgn="auto" latinLnBrk="0" hangingPunct="1">
              <a:lnSpc>
                <a:spcPct val="90000"/>
              </a:lnSpc>
              <a:spcBef>
                <a:spcPct val="0"/>
              </a:spcBef>
              <a:spcAft>
                <a:spcPts val="0"/>
              </a:spcAft>
              <a:buClrTx/>
              <a:buSzTx/>
              <a:buFontTx/>
              <a:buNone/>
              <a:tabLst/>
              <a:defRPr/>
            </a:pPr>
            <a:r>
              <a:rPr kumimoji="0" lang="en-US" sz="2400" b="0" i="0" u="none" strike="noStrike" kern="1200" cap="all" spc="0" normalizeH="0" baseline="0" noProof="0" dirty="0" smtClean="0">
                <a:ln>
                  <a:noFill/>
                </a:ln>
                <a:solidFill>
                  <a:srgbClr val="000000"/>
                </a:solidFill>
                <a:effectLst/>
                <a:uLnTx/>
                <a:uFillTx/>
                <a:latin typeface="Arial Black"/>
                <a:ea typeface="+mj-ea"/>
                <a:cs typeface="+mj-cs"/>
              </a:rPr>
              <a:t>Juan </a:t>
            </a:r>
            <a:r>
              <a:rPr kumimoji="0" lang="en-US" sz="2400" b="0" i="0" u="none" strike="noStrike" kern="1200" cap="all" spc="0" normalizeH="0" baseline="0" noProof="0" dirty="0" err="1" smtClean="0">
                <a:ln>
                  <a:noFill/>
                </a:ln>
                <a:solidFill>
                  <a:srgbClr val="000000"/>
                </a:solidFill>
                <a:effectLst/>
                <a:uLnTx/>
                <a:uFillTx/>
                <a:latin typeface="Arial Black"/>
                <a:ea typeface="+mj-ea"/>
                <a:cs typeface="+mj-cs"/>
              </a:rPr>
              <a:t>francisco</a:t>
            </a:r>
            <a:r>
              <a:rPr kumimoji="0" lang="en-US" sz="2400" b="0" i="0" u="none" strike="noStrike" kern="1200" cap="all" spc="0" normalizeH="0" baseline="0" noProof="0" dirty="0" smtClean="0">
                <a:ln>
                  <a:noFill/>
                </a:ln>
                <a:solidFill>
                  <a:srgbClr val="000000"/>
                </a:solidFill>
                <a:effectLst/>
                <a:uLnTx/>
                <a:uFillTx/>
                <a:latin typeface="Arial Black"/>
                <a:ea typeface="+mj-ea"/>
                <a:cs typeface="+mj-cs"/>
              </a:rPr>
              <a:t> </a:t>
            </a:r>
            <a:r>
              <a:rPr kumimoji="0" lang="en-US" sz="2400" b="0" i="0" u="none" strike="noStrike" kern="1200" cap="all" spc="0" normalizeH="0" baseline="0" noProof="0" dirty="0" err="1" smtClean="0">
                <a:ln>
                  <a:noFill/>
                </a:ln>
                <a:solidFill>
                  <a:srgbClr val="000000"/>
                </a:solidFill>
                <a:effectLst/>
                <a:uLnTx/>
                <a:uFillTx/>
                <a:latin typeface="Arial Black"/>
                <a:ea typeface="+mj-ea"/>
                <a:cs typeface="+mj-cs"/>
              </a:rPr>
              <a:t>lugo</a:t>
            </a:r>
            <a:r>
              <a:rPr kumimoji="0" lang="en-US" sz="2400" b="0" i="0" u="none" strike="noStrike" kern="1200" cap="all" spc="0" normalizeH="0" baseline="0" noProof="0" dirty="0" smtClean="0">
                <a:ln>
                  <a:noFill/>
                </a:ln>
                <a:solidFill>
                  <a:srgbClr val="000000"/>
                </a:solidFill>
                <a:effectLst/>
                <a:uLnTx/>
                <a:uFillTx/>
                <a:latin typeface="Arial Black"/>
                <a:ea typeface="+mj-ea"/>
                <a:cs typeface="+mj-cs"/>
              </a:rPr>
              <a:t> </a:t>
            </a:r>
            <a:r>
              <a:rPr kumimoji="0" lang="en-US" sz="2400" b="0" i="0" u="none" strike="noStrike" kern="1200" cap="all" spc="0" normalizeH="0" baseline="0" noProof="0" dirty="0" err="1" smtClean="0">
                <a:ln>
                  <a:noFill/>
                </a:ln>
                <a:solidFill>
                  <a:srgbClr val="000000"/>
                </a:solidFill>
                <a:effectLst/>
                <a:uLnTx/>
                <a:uFillTx/>
                <a:latin typeface="Arial Black"/>
                <a:ea typeface="+mj-ea"/>
                <a:cs typeface="+mj-cs"/>
              </a:rPr>
              <a:t>moreno</a:t>
            </a:r>
            <a:endParaRPr kumimoji="0" lang="en-US" sz="2400" b="0" i="0" u="none" strike="noStrike" kern="1200" cap="all" spc="0" normalizeH="0" baseline="0" noProof="0" dirty="0">
              <a:ln>
                <a:noFill/>
              </a:ln>
              <a:solidFill>
                <a:srgbClr val="000000"/>
              </a:solidFill>
              <a:effectLst/>
              <a:uLnTx/>
              <a:uFillTx/>
              <a:latin typeface="Arial Black"/>
              <a:ea typeface="+mj-ea"/>
              <a:cs typeface="+mj-cs"/>
            </a:endParaRPr>
          </a:p>
        </p:txBody>
      </p:sp>
      <p:cxnSp>
        <p:nvCxnSpPr>
          <p:cNvPr id="16" name="Straight Connector 15"/>
          <p:cNvCxnSpPr/>
          <p:nvPr/>
        </p:nvCxnSpPr>
        <p:spPr>
          <a:xfrm>
            <a:off x="505891" y="5491282"/>
            <a:ext cx="1078992" cy="0"/>
          </a:xfrm>
          <a:prstGeom prst="line">
            <a:avLst/>
          </a:prstGeom>
          <a:noFill/>
          <a:ln w="50800" cap="flat" cmpd="sng" algn="ctr">
            <a:solidFill>
              <a:srgbClr val="000000"/>
            </a:solidFill>
            <a:prstDash val="solid"/>
            <a:miter lim="800000"/>
          </a:ln>
          <a:effectLst/>
        </p:spPr>
      </p:cxnSp>
      <p:sp>
        <p:nvSpPr>
          <p:cNvPr id="17" name="Text Placeholder 35">
            <a:extLst>
              <a:ext uri="{FF2B5EF4-FFF2-40B4-BE49-F238E27FC236}">
                <a16:creationId xmlns="" xmlns:a16="http://schemas.microsoft.com/office/drawing/2014/main" id="{3101CD47-AF0C-6C4A-0549-47C5F3126D2C}"/>
              </a:ext>
            </a:extLst>
          </p:cNvPr>
          <p:cNvSpPr txBox="1">
            <a:spLocks/>
          </p:cNvSpPr>
          <p:nvPr/>
        </p:nvSpPr>
        <p:spPr>
          <a:xfrm>
            <a:off x="406030" y="5505795"/>
            <a:ext cx="2255986" cy="280987"/>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400" kern="1200" cap="all" baseline="0">
                <a:solidFill>
                  <a:schemeClr val="tx1"/>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1400" b="0" i="0" u="none" strike="noStrike" kern="1200" cap="all" spc="0" normalizeH="0" baseline="0" noProof="0" dirty="0" smtClean="0">
                <a:ln>
                  <a:noFill/>
                </a:ln>
                <a:solidFill>
                  <a:srgbClr val="000000"/>
                </a:solidFill>
                <a:effectLst/>
                <a:uLnTx/>
                <a:uFillTx/>
                <a:latin typeface="Arial Black"/>
                <a:ea typeface="+mn-ea"/>
                <a:cs typeface="+mn-cs"/>
              </a:rPr>
              <a:t>SKILLS</a:t>
            </a:r>
            <a:endParaRPr kumimoji="0" lang="en-US" sz="1400" b="0" i="0" u="none" strike="noStrike" kern="1200" cap="all" spc="0" normalizeH="0" baseline="0" noProof="0" dirty="0">
              <a:ln>
                <a:noFill/>
              </a:ln>
              <a:solidFill>
                <a:srgbClr val="000000"/>
              </a:solidFill>
              <a:effectLst/>
              <a:uLnTx/>
              <a:uFillTx/>
              <a:latin typeface="Arial Black"/>
              <a:ea typeface="+mn-ea"/>
              <a:cs typeface="+mn-cs"/>
            </a:endParaRPr>
          </a:p>
        </p:txBody>
      </p:sp>
      <p:sp>
        <p:nvSpPr>
          <p:cNvPr id="19" name="Text Placeholder 41">
            <a:extLst>
              <a:ext uri="{FF2B5EF4-FFF2-40B4-BE49-F238E27FC236}">
                <a16:creationId xmlns="" xmlns:a16="http://schemas.microsoft.com/office/drawing/2014/main" id="{08727BFF-31DB-272E-C0AD-118A880602AC}"/>
              </a:ext>
            </a:extLst>
          </p:cNvPr>
          <p:cNvSpPr txBox="1">
            <a:spLocks/>
          </p:cNvSpPr>
          <p:nvPr/>
        </p:nvSpPr>
        <p:spPr>
          <a:xfrm>
            <a:off x="419657" y="5772720"/>
            <a:ext cx="2713045" cy="3779476"/>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750"/>
              </a:spcBef>
              <a:buFont typeface="Arial" panose="020B0604020202020204" pitchFamily="34" charset="0"/>
              <a:buNone/>
              <a:defRPr sz="1000" kern="1200" cap="all" baseline="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nSpc>
                <a:spcPts val="1000"/>
              </a:lnSpc>
              <a:spcBef>
                <a:spcPts val="200"/>
              </a:spcBef>
              <a:buFont typeface="Wingdings" pitchFamily="2" charset="2"/>
              <a:buChar char="§"/>
            </a:pPr>
            <a:r>
              <a:rPr lang="en-US" sz="1200" dirty="0"/>
              <a:t>SQL (ANALISIS DE DATOS)</a:t>
            </a:r>
          </a:p>
          <a:p>
            <a:pPr marL="171450" indent="-171450">
              <a:lnSpc>
                <a:spcPts val="1000"/>
              </a:lnSpc>
              <a:spcBef>
                <a:spcPts val="200"/>
              </a:spcBef>
              <a:buFont typeface="Wingdings" pitchFamily="2" charset="2"/>
              <a:buChar char="§"/>
            </a:pPr>
            <a:r>
              <a:rPr lang="en-US" sz="1200" dirty="0"/>
              <a:t>PYTHON (ANALISIS DE DATOS)</a:t>
            </a:r>
          </a:p>
          <a:p>
            <a:pPr marL="171450" indent="-171450">
              <a:lnSpc>
                <a:spcPts val="1000"/>
              </a:lnSpc>
              <a:spcBef>
                <a:spcPts val="200"/>
              </a:spcBef>
              <a:buFont typeface="Wingdings" pitchFamily="2" charset="2"/>
              <a:buChar char="§"/>
            </a:pPr>
            <a:r>
              <a:rPr lang="en-US" sz="1200" dirty="0"/>
              <a:t>IT SERVICE DESK</a:t>
            </a:r>
          </a:p>
          <a:p>
            <a:pPr marL="171450" indent="-171450">
              <a:lnSpc>
                <a:spcPts val="1000"/>
              </a:lnSpc>
              <a:spcBef>
                <a:spcPts val="200"/>
              </a:spcBef>
              <a:buFont typeface="Wingdings" pitchFamily="2" charset="2"/>
              <a:buChar char="§"/>
            </a:pPr>
            <a:r>
              <a:rPr lang="en-US" sz="1200" dirty="0"/>
              <a:t>IT SERVICE </a:t>
            </a:r>
            <a:r>
              <a:rPr lang="en-US" sz="1200" dirty="0" smtClean="0"/>
              <a:t>MANAGER</a:t>
            </a:r>
          </a:p>
          <a:p>
            <a:pPr marL="171450" indent="-171450">
              <a:lnSpc>
                <a:spcPts val="1000"/>
              </a:lnSpc>
              <a:spcBef>
                <a:spcPts val="200"/>
              </a:spcBef>
              <a:buFont typeface="Wingdings" pitchFamily="2" charset="2"/>
              <a:buChar char="§"/>
            </a:pPr>
            <a:r>
              <a:rPr lang="en-US" sz="1200" dirty="0"/>
              <a:t>Cybersecurity</a:t>
            </a:r>
          </a:p>
          <a:p>
            <a:pPr marL="171450" indent="-171450">
              <a:lnSpc>
                <a:spcPts val="1000"/>
              </a:lnSpc>
              <a:spcBef>
                <a:spcPts val="200"/>
              </a:spcBef>
              <a:buFont typeface="Wingdings" pitchFamily="2" charset="2"/>
              <a:buChar char="§"/>
            </a:pPr>
            <a:r>
              <a:rPr lang="en-US" sz="1200" dirty="0"/>
              <a:t>Power </a:t>
            </a:r>
            <a:r>
              <a:rPr lang="en-US" sz="1200" dirty="0" smtClean="0"/>
              <a:t>bi</a:t>
            </a:r>
          </a:p>
          <a:p>
            <a:pPr marL="171450" indent="-171450">
              <a:lnSpc>
                <a:spcPts val="1000"/>
              </a:lnSpc>
              <a:spcBef>
                <a:spcPts val="200"/>
              </a:spcBef>
              <a:buFont typeface="Wingdings" pitchFamily="2" charset="2"/>
              <a:buChar char="§"/>
            </a:pPr>
            <a:r>
              <a:rPr lang="en-US" sz="1200" dirty="0" smtClean="0"/>
              <a:t>Virtualization</a:t>
            </a:r>
            <a:endParaRPr lang="en-US" sz="1200" dirty="0" smtClean="0"/>
          </a:p>
          <a:p>
            <a:pPr marL="171450" indent="-171450">
              <a:lnSpc>
                <a:spcPts val="1000"/>
              </a:lnSpc>
              <a:spcBef>
                <a:spcPts val="200"/>
              </a:spcBef>
              <a:buFont typeface="Wingdings" pitchFamily="2" charset="2"/>
              <a:buChar char="§"/>
            </a:pPr>
            <a:r>
              <a:rPr lang="en-US" sz="1200" dirty="0" smtClean="0"/>
              <a:t>Accountability</a:t>
            </a:r>
            <a:endParaRPr lang="en-US" sz="1200" dirty="0"/>
          </a:p>
          <a:p>
            <a:pPr marL="171450" indent="-171450">
              <a:lnSpc>
                <a:spcPts val="1000"/>
              </a:lnSpc>
              <a:spcBef>
                <a:spcPts val="200"/>
              </a:spcBef>
              <a:buFont typeface="Wingdings" pitchFamily="2" charset="2"/>
              <a:buChar char="§"/>
            </a:pPr>
            <a:r>
              <a:rPr lang="en-US" sz="1200" dirty="0" smtClean="0"/>
              <a:t>Adaptability</a:t>
            </a:r>
          </a:p>
          <a:p>
            <a:pPr marL="171450" indent="-171450">
              <a:lnSpc>
                <a:spcPts val="1000"/>
              </a:lnSpc>
              <a:spcBef>
                <a:spcPts val="200"/>
              </a:spcBef>
              <a:buFont typeface="Wingdings" pitchFamily="2" charset="2"/>
              <a:buChar char="§"/>
            </a:pPr>
            <a:r>
              <a:rPr lang="en-US" sz="1200" dirty="0" smtClean="0"/>
              <a:t>CONTINUOUS LEARNING</a:t>
            </a:r>
            <a:endParaRPr lang="en-US" sz="1200" dirty="0"/>
          </a:p>
          <a:p>
            <a:pPr marL="171450" indent="-171450">
              <a:lnSpc>
                <a:spcPts val="1000"/>
              </a:lnSpc>
              <a:spcBef>
                <a:spcPts val="200"/>
              </a:spcBef>
              <a:buFont typeface="Wingdings" pitchFamily="2" charset="2"/>
              <a:buChar char="§"/>
            </a:pPr>
            <a:r>
              <a:rPr lang="en-US" sz="1200" dirty="0" smtClean="0"/>
              <a:t>Customer </a:t>
            </a:r>
            <a:r>
              <a:rPr lang="en-US" sz="1200" dirty="0"/>
              <a:t>Service</a:t>
            </a:r>
          </a:p>
          <a:p>
            <a:pPr marL="171450" indent="-171450">
              <a:lnSpc>
                <a:spcPts val="1000"/>
              </a:lnSpc>
              <a:spcBef>
                <a:spcPts val="200"/>
              </a:spcBef>
              <a:buFont typeface="Wingdings" pitchFamily="2" charset="2"/>
              <a:buChar char="§"/>
            </a:pPr>
            <a:r>
              <a:rPr lang="en-US" sz="1200" dirty="0" smtClean="0"/>
              <a:t>Effective </a:t>
            </a:r>
            <a:r>
              <a:rPr lang="en-US" sz="1200" dirty="0"/>
              <a:t>Communication</a:t>
            </a:r>
          </a:p>
          <a:p>
            <a:pPr marL="171450" indent="-171450">
              <a:lnSpc>
                <a:spcPts val="1000"/>
              </a:lnSpc>
              <a:spcBef>
                <a:spcPts val="200"/>
              </a:spcBef>
              <a:buFont typeface="Wingdings" pitchFamily="2" charset="2"/>
              <a:buChar char="§"/>
            </a:pPr>
            <a:r>
              <a:rPr lang="en-US" sz="1200" dirty="0"/>
              <a:t>Hardware Deployment</a:t>
            </a:r>
          </a:p>
          <a:p>
            <a:pPr marL="171450" indent="-171450">
              <a:lnSpc>
                <a:spcPts val="1000"/>
              </a:lnSpc>
              <a:spcBef>
                <a:spcPts val="200"/>
              </a:spcBef>
              <a:buFont typeface="Wingdings" pitchFamily="2" charset="2"/>
              <a:buChar char="§"/>
            </a:pPr>
            <a:r>
              <a:rPr lang="en-US" sz="1200" dirty="0"/>
              <a:t>Hardware Troubleshooting</a:t>
            </a:r>
          </a:p>
          <a:p>
            <a:pPr marL="171450" indent="-171450">
              <a:lnSpc>
                <a:spcPts val="1000"/>
              </a:lnSpc>
              <a:spcBef>
                <a:spcPts val="200"/>
              </a:spcBef>
              <a:buFont typeface="Wingdings" pitchFamily="2" charset="2"/>
              <a:buChar char="§"/>
            </a:pPr>
            <a:r>
              <a:rPr lang="en-US" sz="1200" dirty="0" smtClean="0"/>
              <a:t>Network </a:t>
            </a:r>
            <a:r>
              <a:rPr lang="en-US" sz="1200" dirty="0"/>
              <a:t>Troubleshooting</a:t>
            </a:r>
          </a:p>
          <a:p>
            <a:pPr marL="171450" indent="-171450">
              <a:lnSpc>
                <a:spcPts val="1000"/>
              </a:lnSpc>
              <a:spcBef>
                <a:spcPts val="200"/>
              </a:spcBef>
              <a:buFont typeface="Wingdings" pitchFamily="2" charset="2"/>
              <a:buChar char="§"/>
            </a:pPr>
            <a:r>
              <a:rPr lang="en-US" sz="1200" dirty="0" smtClean="0"/>
              <a:t>Problem-Solving</a:t>
            </a:r>
            <a:endParaRPr lang="en-US" sz="1200" dirty="0"/>
          </a:p>
          <a:p>
            <a:pPr marL="171450" indent="-171450">
              <a:lnSpc>
                <a:spcPts val="1000"/>
              </a:lnSpc>
              <a:spcBef>
                <a:spcPts val="200"/>
              </a:spcBef>
              <a:buFont typeface="Wingdings" pitchFamily="2" charset="2"/>
              <a:buChar char="§"/>
            </a:pPr>
            <a:r>
              <a:rPr lang="en-US" sz="1200" dirty="0" smtClean="0"/>
              <a:t>Self-Starter</a:t>
            </a:r>
            <a:endParaRPr lang="en-US" sz="1200" dirty="0"/>
          </a:p>
          <a:p>
            <a:pPr marL="171450" indent="-171450">
              <a:lnSpc>
                <a:spcPts val="1000"/>
              </a:lnSpc>
              <a:spcBef>
                <a:spcPts val="200"/>
              </a:spcBef>
              <a:buFont typeface="Wingdings" pitchFamily="2" charset="2"/>
              <a:buChar char="§"/>
            </a:pPr>
            <a:r>
              <a:rPr lang="en-US" sz="1200" dirty="0" smtClean="0"/>
              <a:t>Strong </a:t>
            </a:r>
            <a:r>
              <a:rPr lang="en-US" sz="1200" dirty="0"/>
              <a:t>Time Management</a:t>
            </a:r>
          </a:p>
          <a:p>
            <a:pPr marL="171450" indent="-171450">
              <a:lnSpc>
                <a:spcPts val="1000"/>
              </a:lnSpc>
              <a:spcBef>
                <a:spcPts val="200"/>
              </a:spcBef>
              <a:buFont typeface="Wingdings" pitchFamily="2" charset="2"/>
              <a:buChar char="§"/>
            </a:pPr>
            <a:r>
              <a:rPr lang="en-US" sz="1200" dirty="0"/>
              <a:t>Technical </a:t>
            </a:r>
            <a:r>
              <a:rPr lang="en-US" sz="1200" dirty="0" smtClean="0"/>
              <a:t>Writing</a:t>
            </a:r>
            <a:endParaRPr lang="en-US" sz="1200" dirty="0"/>
          </a:p>
        </p:txBody>
      </p:sp>
      <p:sp>
        <p:nvSpPr>
          <p:cNvPr id="87" name="Text Placeholder 37">
            <a:extLst>
              <a:ext uri="{FF2B5EF4-FFF2-40B4-BE49-F238E27FC236}">
                <a16:creationId xmlns="" xmlns:a16="http://schemas.microsoft.com/office/drawing/2014/main" id="{5491332B-F4C1-A0E1-A243-C0CE24E11292}"/>
              </a:ext>
            </a:extLst>
          </p:cNvPr>
          <p:cNvSpPr txBox="1">
            <a:spLocks/>
          </p:cNvSpPr>
          <p:nvPr/>
        </p:nvSpPr>
        <p:spPr>
          <a:xfrm>
            <a:off x="3074202" y="2782105"/>
            <a:ext cx="2542032" cy="280987"/>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400" kern="1200" cap="all" baseline="0">
                <a:solidFill>
                  <a:schemeClr val="tx1"/>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1400" b="0" i="0" u="none" strike="noStrike" kern="1200" cap="all" spc="0" normalizeH="0" baseline="0" noProof="0" dirty="0" smtClean="0">
                <a:ln>
                  <a:noFill/>
                </a:ln>
                <a:solidFill>
                  <a:srgbClr val="000000"/>
                </a:solidFill>
                <a:effectLst/>
                <a:uLnTx/>
                <a:uFillTx/>
                <a:latin typeface="Arial Black"/>
                <a:ea typeface="+mn-ea"/>
                <a:cs typeface="+mn-cs"/>
              </a:rPr>
              <a:t>EXPERIENCE</a:t>
            </a:r>
            <a:endParaRPr kumimoji="0" lang="en-US" sz="1400" b="0" i="0" u="none" strike="noStrike" kern="1200" cap="all" spc="0" normalizeH="0" baseline="0" noProof="0" dirty="0">
              <a:ln>
                <a:noFill/>
              </a:ln>
              <a:solidFill>
                <a:srgbClr val="000000"/>
              </a:solidFill>
              <a:effectLst/>
              <a:uLnTx/>
              <a:uFillTx/>
              <a:latin typeface="Arial Black"/>
              <a:ea typeface="+mn-ea"/>
              <a:cs typeface="+mn-cs"/>
            </a:endParaRPr>
          </a:p>
        </p:txBody>
      </p:sp>
      <p:sp>
        <p:nvSpPr>
          <p:cNvPr id="88" name="Text Placeholder 56">
            <a:extLst>
              <a:ext uri="{FF2B5EF4-FFF2-40B4-BE49-F238E27FC236}">
                <a16:creationId xmlns="" xmlns:a16="http://schemas.microsoft.com/office/drawing/2014/main" id="{0D464243-B20F-7310-E459-52DDC9A14841}"/>
              </a:ext>
            </a:extLst>
          </p:cNvPr>
          <p:cNvSpPr txBox="1">
            <a:spLocks/>
          </p:cNvSpPr>
          <p:nvPr/>
        </p:nvSpPr>
        <p:spPr>
          <a:xfrm>
            <a:off x="3085340" y="3062119"/>
            <a:ext cx="3295988" cy="1556345"/>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sz="1000" b="0" kern="1200" cap="all" baseline="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0">
              <a:lnSpc>
                <a:spcPts val="1000"/>
              </a:lnSpc>
              <a:spcBef>
                <a:spcPts val="200"/>
              </a:spcBef>
            </a:pPr>
            <a:r>
              <a:rPr lang="en-US" sz="1200" b="1" dirty="0" smtClean="0">
                <a:latin typeface="+mj-lt"/>
              </a:rPr>
              <a:t>Consultant, </a:t>
            </a:r>
            <a:r>
              <a:rPr lang="en-US" sz="1200" b="1" dirty="0">
                <a:latin typeface="+mj-lt"/>
              </a:rPr>
              <a:t>Data </a:t>
            </a:r>
            <a:r>
              <a:rPr lang="en-US" sz="1200" b="1" dirty="0" smtClean="0">
                <a:latin typeface="+mj-lt"/>
              </a:rPr>
              <a:t>Specialist</a:t>
            </a:r>
          </a:p>
          <a:p>
            <a:pPr lvl="0" defTabSz="914400">
              <a:lnSpc>
                <a:spcPts val="1000"/>
              </a:lnSpc>
              <a:spcBef>
                <a:spcPts val="200"/>
              </a:spcBef>
            </a:pPr>
            <a:r>
              <a:rPr lang="en-US" sz="1200" b="1" cap="none" dirty="0" smtClean="0">
                <a:solidFill>
                  <a:prstClr val="black"/>
                </a:solidFill>
                <a:latin typeface="+mj-lt"/>
              </a:rPr>
              <a:t>QUANTUM MEXICO</a:t>
            </a:r>
            <a:endParaRPr lang="en-US" sz="1200" b="1" cap="none" dirty="0">
              <a:solidFill>
                <a:prstClr val="black"/>
              </a:solidFill>
              <a:latin typeface="+mj-lt"/>
            </a:endParaRPr>
          </a:p>
          <a:p>
            <a:pPr lvl="0" defTabSz="914400">
              <a:lnSpc>
                <a:spcPts val="1000"/>
              </a:lnSpc>
              <a:spcBef>
                <a:spcPts val="200"/>
              </a:spcBef>
            </a:pPr>
            <a:r>
              <a:rPr lang="en-US" sz="1200" b="1" cap="none" dirty="0">
                <a:solidFill>
                  <a:prstClr val="black"/>
                </a:solidFill>
                <a:latin typeface="+mj-lt"/>
              </a:rPr>
              <a:t>May 2020 – Current</a:t>
            </a:r>
          </a:p>
          <a:p>
            <a:pPr lvl="0" defTabSz="914400">
              <a:lnSpc>
                <a:spcPts val="1000"/>
              </a:lnSpc>
              <a:spcBef>
                <a:spcPts val="200"/>
              </a:spcBef>
            </a:pPr>
            <a:endParaRPr lang="en-US" sz="1200" cap="none" dirty="0" smtClean="0">
              <a:solidFill>
                <a:srgbClr val="000000"/>
              </a:solidFill>
              <a:latin typeface="+mj-lt"/>
              <a:ea typeface="Nunito"/>
              <a:cs typeface="Times New Roman"/>
            </a:endParaRPr>
          </a:p>
          <a:p>
            <a:pPr lvl="0" defTabSz="914400">
              <a:lnSpc>
                <a:spcPts val="1000"/>
              </a:lnSpc>
              <a:spcBef>
                <a:spcPts val="200"/>
              </a:spcBef>
            </a:pPr>
            <a:r>
              <a:rPr lang="en-US" sz="1200" cap="none" dirty="0" smtClean="0">
                <a:solidFill>
                  <a:srgbClr val="000000"/>
                </a:solidFill>
                <a:latin typeface="+mj-lt"/>
                <a:ea typeface="Nunito"/>
                <a:cs typeface="Times New Roman"/>
              </a:rPr>
              <a:t>The </a:t>
            </a:r>
            <a:r>
              <a:rPr lang="en-US" sz="1200" cap="none" dirty="0">
                <a:solidFill>
                  <a:srgbClr val="000000"/>
                </a:solidFill>
                <a:latin typeface="+mj-lt"/>
                <a:ea typeface="Nunito"/>
                <a:cs typeface="Times New Roman"/>
              </a:rPr>
              <a:t>business consultancy "Tailored Made" is a branch with more than </a:t>
            </a:r>
            <a:r>
              <a:rPr lang="en-US" sz="1200" cap="none" dirty="0" smtClean="0">
                <a:solidFill>
                  <a:srgbClr val="000000"/>
                </a:solidFill>
                <a:latin typeface="+mj-lt"/>
                <a:ea typeface="Nunito"/>
                <a:cs typeface="Times New Roman"/>
              </a:rPr>
              <a:t>three </a:t>
            </a:r>
            <a:r>
              <a:rPr lang="en-US" sz="1200" cap="none" dirty="0">
                <a:solidFill>
                  <a:srgbClr val="000000"/>
                </a:solidFill>
                <a:latin typeface="+mj-lt"/>
                <a:ea typeface="Nunito"/>
                <a:cs typeface="Times New Roman"/>
              </a:rPr>
              <a:t>years of experience for a select group of companies in which I serve as a specialist in finance and data analysis. Group made up of a small group of scientists specialized in finance, information technology, and data analysis.</a:t>
            </a:r>
            <a:endParaRPr lang="en-US" sz="1200" dirty="0">
              <a:solidFill>
                <a:srgbClr val="000000"/>
              </a:solidFill>
              <a:latin typeface="+mj-lt"/>
            </a:endParaRPr>
          </a:p>
          <a:p>
            <a:pPr lvl="0" defTabSz="914400">
              <a:spcBef>
                <a:spcPts val="0"/>
              </a:spcBef>
            </a:pPr>
            <a:endParaRPr lang="en-US" sz="1200" cap="none" dirty="0">
              <a:solidFill>
                <a:srgbClr val="000000"/>
              </a:solidFill>
              <a:latin typeface="Arial"/>
            </a:endParaRPr>
          </a:p>
          <a:p>
            <a:pPr lvl="0"/>
            <a:endParaRPr lang="en-US" sz="1200" b="1" dirty="0" smtClean="0"/>
          </a:p>
          <a:p>
            <a:pPr lvl="0"/>
            <a:endParaRPr lang="en-US" sz="1200" b="1" dirty="0" smtClean="0"/>
          </a:p>
          <a:p>
            <a:pPr lvl="0"/>
            <a:endParaRPr kumimoji="0" lang="en-US" sz="1200" b="0" i="0" u="none" strike="noStrike" kern="1200" cap="all" spc="0" normalizeH="0" baseline="0" noProof="0" dirty="0">
              <a:ln>
                <a:noFill/>
              </a:ln>
              <a:solidFill>
                <a:srgbClr val="000000"/>
              </a:solidFill>
              <a:effectLst/>
              <a:uLnTx/>
              <a:uFillTx/>
              <a:latin typeface="Arial"/>
            </a:endParaRPr>
          </a:p>
        </p:txBody>
      </p:sp>
      <p:cxnSp>
        <p:nvCxnSpPr>
          <p:cNvPr id="100" name="Straight Connector 5"/>
          <p:cNvCxnSpPr/>
          <p:nvPr/>
        </p:nvCxnSpPr>
        <p:spPr>
          <a:xfrm>
            <a:off x="3162502" y="2746256"/>
            <a:ext cx="1078992" cy="0"/>
          </a:xfrm>
          <a:prstGeom prst="line">
            <a:avLst/>
          </a:prstGeom>
          <a:noFill/>
          <a:ln w="50800" cap="flat" cmpd="sng" algn="ctr">
            <a:solidFill>
              <a:srgbClr val="000000"/>
            </a:solidFill>
            <a:prstDash val="solid"/>
            <a:miter lim="800000"/>
          </a:ln>
          <a:effectLst/>
        </p:spPr>
      </p:cxnSp>
      <p:cxnSp>
        <p:nvCxnSpPr>
          <p:cNvPr id="101" name="Straight Connector 5"/>
          <p:cNvCxnSpPr/>
          <p:nvPr/>
        </p:nvCxnSpPr>
        <p:spPr>
          <a:xfrm>
            <a:off x="3132703" y="409477"/>
            <a:ext cx="1078992" cy="0"/>
          </a:xfrm>
          <a:prstGeom prst="line">
            <a:avLst/>
          </a:prstGeom>
          <a:noFill/>
          <a:ln w="50800" cap="flat" cmpd="sng" algn="ctr">
            <a:solidFill>
              <a:srgbClr val="000000"/>
            </a:solidFill>
            <a:prstDash val="solid"/>
            <a:miter lim="800000"/>
          </a:ln>
          <a:effectLst/>
        </p:spPr>
      </p:cxnSp>
      <p:sp>
        <p:nvSpPr>
          <p:cNvPr id="102" name="Text Placeholder 33">
            <a:extLst>
              <a:ext uri="{FF2B5EF4-FFF2-40B4-BE49-F238E27FC236}">
                <a16:creationId xmlns="" xmlns:a16="http://schemas.microsoft.com/office/drawing/2014/main" id="{17688882-022C-FE60-CD8B-8E84FE4A6395}"/>
              </a:ext>
            </a:extLst>
          </p:cNvPr>
          <p:cNvSpPr txBox="1">
            <a:spLocks/>
          </p:cNvSpPr>
          <p:nvPr/>
        </p:nvSpPr>
        <p:spPr>
          <a:xfrm>
            <a:off x="3053222" y="467544"/>
            <a:ext cx="2330450" cy="280987"/>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400" kern="1200" cap="all" baseline="0">
                <a:solidFill>
                  <a:schemeClr val="tx1"/>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latin typeface="Arial Black" pitchFamily="34" charset="0"/>
              </a:rPr>
              <a:t>ABILITIES + YEARS</a:t>
            </a:r>
          </a:p>
        </p:txBody>
      </p:sp>
      <p:sp>
        <p:nvSpPr>
          <p:cNvPr id="103" name="Text Placeholder 39">
            <a:extLst>
              <a:ext uri="{FF2B5EF4-FFF2-40B4-BE49-F238E27FC236}">
                <a16:creationId xmlns="" xmlns:a16="http://schemas.microsoft.com/office/drawing/2014/main" id="{301773B6-B2F1-1C08-9FDE-63FC20420F90}"/>
              </a:ext>
            </a:extLst>
          </p:cNvPr>
          <p:cNvSpPr txBox="1">
            <a:spLocks/>
          </p:cNvSpPr>
          <p:nvPr/>
        </p:nvSpPr>
        <p:spPr>
          <a:xfrm>
            <a:off x="3036404" y="721066"/>
            <a:ext cx="3344924" cy="1237503"/>
          </a:xfrm>
          <a:prstGeom prst="rect">
            <a:avLst/>
          </a:prstGeom>
        </p:spPr>
        <p:txBody>
          <a:bodyPr vert="horz" lIns="91440" tIns="45720" rIns="91440" bIns="45720" rtlCol="0">
            <a:noAutofit/>
          </a:bodyPr>
          <a:lstStyle>
            <a:lvl1pPr marL="0" indent="0" algn="l" defTabSz="685800" rtl="0" eaLnBrk="1" latinLnBrk="0" hangingPunct="1">
              <a:lnSpc>
                <a:spcPts val="1000"/>
              </a:lnSpc>
              <a:spcBef>
                <a:spcPts val="750"/>
              </a:spcBef>
              <a:buFont typeface="Arial" panose="020B0604020202020204" pitchFamily="34" charset="0"/>
              <a:buNone/>
              <a:defRPr sz="10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200"/>
              </a:spcBef>
            </a:pPr>
            <a:r>
              <a:rPr lang="en-US" sz="1200" dirty="0" smtClean="0"/>
              <a:t>CODING (currently learning) | </a:t>
            </a:r>
            <a:r>
              <a:rPr lang="en-US" sz="1200" dirty="0"/>
              <a:t>3</a:t>
            </a:r>
            <a:endParaRPr lang="es-MX" sz="1200" dirty="0"/>
          </a:p>
          <a:p>
            <a:pPr>
              <a:spcBef>
                <a:spcPts val="200"/>
              </a:spcBef>
            </a:pPr>
            <a:r>
              <a:rPr lang="en-US" sz="1200" dirty="0"/>
              <a:t>COLLABORATION TOOLS | 10</a:t>
            </a:r>
            <a:endParaRPr lang="es-MX" sz="1200" dirty="0"/>
          </a:p>
          <a:p>
            <a:pPr>
              <a:spcBef>
                <a:spcPts val="200"/>
              </a:spcBef>
            </a:pPr>
            <a:r>
              <a:rPr lang="en-US" sz="1200" dirty="0"/>
              <a:t>GRAPHIC DESIGN | 6</a:t>
            </a:r>
            <a:endParaRPr lang="es-MX" sz="1200" dirty="0"/>
          </a:p>
          <a:p>
            <a:pPr>
              <a:spcBef>
                <a:spcPts val="200"/>
              </a:spcBef>
            </a:pPr>
            <a:r>
              <a:rPr lang="en-US" sz="1200" dirty="0"/>
              <a:t>MOBILE DEVICE SUPPORT | 10</a:t>
            </a:r>
            <a:endParaRPr lang="es-MX" sz="1200" dirty="0"/>
          </a:p>
          <a:p>
            <a:pPr>
              <a:spcBef>
                <a:spcPts val="200"/>
              </a:spcBef>
            </a:pPr>
            <a:r>
              <a:rPr lang="en-US" sz="1200" dirty="0"/>
              <a:t>SOCIAL MEDIA MANAGEMENT| 10</a:t>
            </a:r>
            <a:endParaRPr lang="es-MX" sz="1200" dirty="0"/>
          </a:p>
          <a:p>
            <a:pPr>
              <a:spcBef>
                <a:spcPts val="200"/>
              </a:spcBef>
            </a:pPr>
            <a:r>
              <a:rPr lang="en-US" sz="1200" dirty="0"/>
              <a:t>TEAM MANAGEMENT | 10</a:t>
            </a:r>
            <a:endParaRPr lang="es-MX" sz="1200" dirty="0"/>
          </a:p>
          <a:p>
            <a:pPr>
              <a:spcBef>
                <a:spcPts val="200"/>
              </a:spcBef>
            </a:pPr>
            <a:r>
              <a:rPr lang="en-US" sz="1200" dirty="0"/>
              <a:t>WEBSITE DEVELOPMENT (currently learning) | 3</a:t>
            </a:r>
            <a:endParaRPr lang="es-MX" sz="1200" dirty="0"/>
          </a:p>
          <a:p>
            <a:endParaRPr lang="en-US" sz="1200" dirty="0"/>
          </a:p>
        </p:txBody>
      </p:sp>
      <p:cxnSp>
        <p:nvCxnSpPr>
          <p:cNvPr id="104" name="Straight Connector 15"/>
          <p:cNvCxnSpPr/>
          <p:nvPr/>
        </p:nvCxnSpPr>
        <p:spPr>
          <a:xfrm>
            <a:off x="480494" y="2921338"/>
            <a:ext cx="1078992" cy="0"/>
          </a:xfrm>
          <a:prstGeom prst="line">
            <a:avLst/>
          </a:prstGeom>
          <a:noFill/>
          <a:ln w="50800" cap="flat" cmpd="sng" algn="ctr">
            <a:solidFill>
              <a:srgbClr val="000000"/>
            </a:solidFill>
            <a:prstDash val="solid"/>
            <a:miter lim="800000"/>
          </a:ln>
          <a:effectLst/>
        </p:spPr>
      </p:cxnSp>
      <p:sp>
        <p:nvSpPr>
          <p:cNvPr id="105" name="Text Placeholder 35">
            <a:extLst>
              <a:ext uri="{FF2B5EF4-FFF2-40B4-BE49-F238E27FC236}">
                <a16:creationId xmlns="" xmlns:a16="http://schemas.microsoft.com/office/drawing/2014/main" id="{3101CD47-AF0C-6C4A-0549-47C5F3126D2C}"/>
              </a:ext>
            </a:extLst>
          </p:cNvPr>
          <p:cNvSpPr txBox="1">
            <a:spLocks/>
          </p:cNvSpPr>
          <p:nvPr/>
        </p:nvSpPr>
        <p:spPr>
          <a:xfrm>
            <a:off x="406030" y="2993346"/>
            <a:ext cx="2255986" cy="280987"/>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400" kern="1200" cap="all" baseline="0">
                <a:solidFill>
                  <a:schemeClr val="tx1"/>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1400" b="0" i="0" u="none" strike="noStrike" kern="1200" cap="all" spc="0" normalizeH="0" baseline="0" noProof="0" dirty="0" smtClean="0">
                <a:ln>
                  <a:noFill/>
                </a:ln>
                <a:solidFill>
                  <a:srgbClr val="000000"/>
                </a:solidFill>
                <a:effectLst/>
                <a:uLnTx/>
                <a:uFillTx/>
                <a:latin typeface="Arial Black"/>
                <a:ea typeface="+mn-ea"/>
                <a:cs typeface="+mn-cs"/>
              </a:rPr>
              <a:t>EDUCATION</a:t>
            </a:r>
            <a:endParaRPr kumimoji="0" lang="en-US" sz="1400" b="0" i="0" u="none" strike="noStrike" kern="1200" cap="all" spc="0" normalizeH="0" baseline="0" noProof="0" dirty="0">
              <a:ln>
                <a:noFill/>
              </a:ln>
              <a:solidFill>
                <a:srgbClr val="000000"/>
              </a:solidFill>
              <a:effectLst/>
              <a:uLnTx/>
              <a:uFillTx/>
              <a:latin typeface="Arial Black"/>
              <a:ea typeface="+mn-ea"/>
              <a:cs typeface="+mn-cs"/>
            </a:endParaRPr>
          </a:p>
        </p:txBody>
      </p:sp>
      <p:sp>
        <p:nvSpPr>
          <p:cNvPr id="110" name="Text Placeholder 36">
            <a:extLst>
              <a:ext uri="{FF2B5EF4-FFF2-40B4-BE49-F238E27FC236}">
                <a16:creationId xmlns="" xmlns:a16="http://schemas.microsoft.com/office/drawing/2014/main" id="{7862CBE9-00A0-9393-8C21-AA57C16EA03E}"/>
              </a:ext>
            </a:extLst>
          </p:cNvPr>
          <p:cNvSpPr txBox="1">
            <a:spLocks/>
          </p:cNvSpPr>
          <p:nvPr/>
        </p:nvSpPr>
        <p:spPr>
          <a:xfrm>
            <a:off x="3038471" y="1958569"/>
            <a:ext cx="2330450" cy="280987"/>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400" kern="1200" cap="all" baseline="0">
                <a:solidFill>
                  <a:schemeClr val="tx1"/>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1400" b="0" i="0" u="none" strike="noStrike" kern="1200" cap="all" spc="0" normalizeH="0" baseline="0" noProof="0" dirty="0" smtClean="0">
                <a:ln>
                  <a:noFill/>
                </a:ln>
                <a:solidFill>
                  <a:srgbClr val="000000"/>
                </a:solidFill>
                <a:effectLst/>
                <a:uLnTx/>
                <a:uFillTx/>
                <a:latin typeface="Arial Black"/>
                <a:ea typeface="+mn-ea"/>
                <a:cs typeface="+mn-cs"/>
              </a:rPr>
              <a:t>LANGUAGES</a:t>
            </a:r>
            <a:endParaRPr kumimoji="0" lang="en-US" sz="1400" b="0" i="0" u="none" strike="noStrike" kern="1200" cap="all" spc="0" normalizeH="0" baseline="0" noProof="0" dirty="0">
              <a:ln>
                <a:noFill/>
              </a:ln>
              <a:solidFill>
                <a:srgbClr val="000000"/>
              </a:solidFill>
              <a:effectLst/>
              <a:uLnTx/>
              <a:uFillTx/>
              <a:latin typeface="Arial Black"/>
              <a:ea typeface="+mn-ea"/>
              <a:cs typeface="+mn-cs"/>
            </a:endParaRPr>
          </a:p>
        </p:txBody>
      </p:sp>
      <p:sp>
        <p:nvSpPr>
          <p:cNvPr id="111" name="Text Placeholder 46">
            <a:extLst>
              <a:ext uri="{FF2B5EF4-FFF2-40B4-BE49-F238E27FC236}">
                <a16:creationId xmlns="" xmlns:a16="http://schemas.microsoft.com/office/drawing/2014/main" id="{75663571-1683-924E-EC5C-F0AD4068190A}"/>
              </a:ext>
            </a:extLst>
          </p:cNvPr>
          <p:cNvSpPr txBox="1">
            <a:spLocks/>
          </p:cNvSpPr>
          <p:nvPr/>
        </p:nvSpPr>
        <p:spPr>
          <a:xfrm>
            <a:off x="3059746" y="2195736"/>
            <a:ext cx="2330450" cy="603962"/>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750"/>
              </a:spcBef>
              <a:buFont typeface="Arial" panose="020B0604020202020204" pitchFamily="34" charset="0"/>
              <a:buNone/>
              <a:defRPr sz="1000" kern="1200" cap="all" baseline="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ts val="1000"/>
              </a:lnSpc>
              <a:spcBef>
                <a:spcPts val="200"/>
              </a:spcBef>
              <a:spcAft>
                <a:spcPts val="0"/>
              </a:spcAft>
              <a:buClrTx/>
              <a:buSzTx/>
              <a:buFont typeface="Arial" panose="020B0604020202020204" pitchFamily="34" charset="0"/>
              <a:buNone/>
              <a:tabLst/>
              <a:defRPr/>
            </a:pPr>
            <a:r>
              <a:rPr kumimoji="0" lang="en-US" sz="1200" b="0" i="0" u="none" strike="noStrike" kern="1200" cap="all" spc="0" normalizeH="0" baseline="0" noProof="0" dirty="0" smtClean="0">
                <a:ln>
                  <a:noFill/>
                </a:ln>
                <a:solidFill>
                  <a:srgbClr val="000000"/>
                </a:solidFill>
                <a:effectLst/>
                <a:uLnTx/>
                <a:uFillTx/>
                <a:ea typeface="+mn-ea"/>
                <a:cs typeface="+mn-cs"/>
              </a:rPr>
              <a:t>SPANISH NATIVE</a:t>
            </a:r>
            <a:r>
              <a:rPr kumimoji="0" lang="en-US" sz="1200" b="0" i="0" u="none" strike="noStrike" kern="1200" cap="all" spc="0" normalizeH="0" noProof="0" dirty="0" smtClean="0">
                <a:ln>
                  <a:noFill/>
                </a:ln>
                <a:solidFill>
                  <a:srgbClr val="000000"/>
                </a:solidFill>
                <a:effectLst/>
                <a:uLnTx/>
                <a:uFillTx/>
                <a:ea typeface="+mn-ea"/>
                <a:cs typeface="+mn-cs"/>
              </a:rPr>
              <a:t> </a:t>
            </a:r>
          </a:p>
          <a:p>
            <a:pPr marL="0" marR="0" lvl="0" indent="0" algn="l" defTabSz="685800" rtl="0" eaLnBrk="1" fontAlgn="auto" latinLnBrk="0" hangingPunct="1">
              <a:lnSpc>
                <a:spcPts val="1000"/>
              </a:lnSpc>
              <a:spcBef>
                <a:spcPts val="200"/>
              </a:spcBef>
              <a:spcAft>
                <a:spcPts val="0"/>
              </a:spcAft>
              <a:buClrTx/>
              <a:buSzTx/>
              <a:buFont typeface="Arial" panose="020B0604020202020204" pitchFamily="34" charset="0"/>
              <a:buNone/>
              <a:tabLst/>
              <a:defRPr/>
            </a:pPr>
            <a:r>
              <a:rPr kumimoji="0" lang="en-US" sz="1200" b="0" i="0" u="none" strike="noStrike" kern="1200" cap="all" spc="0" normalizeH="0" baseline="0" noProof="0" dirty="0" smtClean="0">
                <a:ln>
                  <a:noFill/>
                </a:ln>
                <a:solidFill>
                  <a:srgbClr val="000000"/>
                </a:solidFill>
                <a:effectLst/>
                <a:uLnTx/>
                <a:uFillTx/>
                <a:ea typeface="+mn-ea"/>
                <a:cs typeface="+mn-cs"/>
              </a:rPr>
              <a:t>ENGLISH TOEFL C1 PROFESSIONAL</a:t>
            </a:r>
            <a:endParaRPr kumimoji="0" lang="en-US" sz="1200" b="0" i="0" u="none" strike="noStrike" kern="1200" cap="all" spc="0" normalizeH="0" baseline="0" noProof="0" dirty="0">
              <a:ln>
                <a:noFill/>
              </a:ln>
              <a:solidFill>
                <a:srgbClr val="000000"/>
              </a:solidFill>
              <a:effectLst/>
              <a:uLnTx/>
              <a:uFillTx/>
              <a:ea typeface="+mn-ea"/>
              <a:cs typeface="+mn-cs"/>
            </a:endParaRPr>
          </a:p>
        </p:txBody>
      </p:sp>
      <p:cxnSp>
        <p:nvCxnSpPr>
          <p:cNvPr id="114" name="Straight Connector 5"/>
          <p:cNvCxnSpPr/>
          <p:nvPr/>
        </p:nvCxnSpPr>
        <p:spPr>
          <a:xfrm>
            <a:off x="3141915" y="1917851"/>
            <a:ext cx="1078992" cy="0"/>
          </a:xfrm>
          <a:prstGeom prst="line">
            <a:avLst/>
          </a:prstGeom>
          <a:noFill/>
          <a:ln w="50800" cap="flat" cmpd="sng" algn="ctr">
            <a:solidFill>
              <a:srgbClr val="000000"/>
            </a:solidFill>
            <a:prstDash val="solid"/>
            <a:miter lim="800000"/>
          </a:ln>
          <a:effectLst/>
        </p:spPr>
      </p:cxnSp>
      <p:sp>
        <p:nvSpPr>
          <p:cNvPr id="115" name="Text Placeholder 56">
            <a:extLst>
              <a:ext uri="{FF2B5EF4-FFF2-40B4-BE49-F238E27FC236}">
                <a16:creationId xmlns="" xmlns:a16="http://schemas.microsoft.com/office/drawing/2014/main" id="{0D464243-B20F-7310-E459-52DDC9A14841}"/>
              </a:ext>
            </a:extLst>
          </p:cNvPr>
          <p:cNvSpPr txBox="1">
            <a:spLocks/>
          </p:cNvSpPr>
          <p:nvPr/>
        </p:nvSpPr>
        <p:spPr>
          <a:xfrm>
            <a:off x="3086560" y="4716016"/>
            <a:ext cx="3287128" cy="4248472"/>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sz="1000" b="0" kern="1200" cap="all" baseline="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0">
              <a:lnSpc>
                <a:spcPts val="1000"/>
              </a:lnSpc>
              <a:spcBef>
                <a:spcPts val="200"/>
              </a:spcBef>
            </a:pPr>
            <a:r>
              <a:rPr lang="en-US" sz="1200" b="1" dirty="0">
                <a:solidFill>
                  <a:srgbClr val="000000"/>
                </a:solidFill>
                <a:ea typeface="Nunito"/>
                <a:cs typeface="Times New Roman"/>
              </a:rPr>
              <a:t>Management Assistant </a:t>
            </a:r>
            <a:endParaRPr lang="en-US" sz="1200" b="1" dirty="0" smtClean="0">
              <a:solidFill>
                <a:srgbClr val="000000"/>
              </a:solidFill>
              <a:ea typeface="Nunito"/>
              <a:cs typeface="Times New Roman"/>
            </a:endParaRPr>
          </a:p>
          <a:p>
            <a:pPr lvl="0">
              <a:lnSpc>
                <a:spcPts val="1000"/>
              </a:lnSpc>
              <a:spcBef>
                <a:spcPts val="200"/>
              </a:spcBef>
            </a:pPr>
            <a:r>
              <a:rPr lang="en-US" sz="1200" b="1" dirty="0"/>
              <a:t>Florida Power &amp; Light, Remote </a:t>
            </a:r>
            <a:endParaRPr lang="en-US" sz="1200" b="1" dirty="0" smtClean="0"/>
          </a:p>
          <a:p>
            <a:pPr lvl="0">
              <a:lnSpc>
                <a:spcPts val="1000"/>
              </a:lnSpc>
              <a:spcBef>
                <a:spcPts val="200"/>
              </a:spcBef>
            </a:pPr>
            <a:r>
              <a:rPr lang="en-US" sz="1200" b="1" dirty="0"/>
              <a:t>July 2021 </a:t>
            </a:r>
            <a:r>
              <a:rPr lang="en-US" sz="1200" b="1" dirty="0" smtClean="0"/>
              <a:t>– JULY 2023 </a:t>
            </a:r>
          </a:p>
          <a:p>
            <a:pPr lvl="0">
              <a:lnSpc>
                <a:spcPts val="1000"/>
              </a:lnSpc>
              <a:spcBef>
                <a:spcPts val="200"/>
              </a:spcBef>
            </a:pPr>
            <a:endParaRPr lang="en-US" sz="1200" cap="none" dirty="0" smtClean="0">
              <a:solidFill>
                <a:srgbClr val="000000"/>
              </a:solidFill>
              <a:ea typeface="Nunito"/>
              <a:cs typeface="Times New Roman"/>
            </a:endParaRPr>
          </a:p>
          <a:p>
            <a:pPr lvl="0">
              <a:lnSpc>
                <a:spcPts val="1000"/>
              </a:lnSpc>
              <a:spcBef>
                <a:spcPts val="200"/>
              </a:spcBef>
            </a:pPr>
            <a:r>
              <a:rPr lang="en-US" sz="1200" cap="none" dirty="0" smtClean="0">
                <a:solidFill>
                  <a:srgbClr val="000000"/>
                </a:solidFill>
                <a:ea typeface="Nunito"/>
                <a:cs typeface="Times New Roman"/>
              </a:rPr>
              <a:t>Strong understanding </a:t>
            </a:r>
            <a:r>
              <a:rPr lang="en-US" sz="1200" cap="none" dirty="0">
                <a:solidFill>
                  <a:srgbClr val="000000"/>
                </a:solidFill>
                <a:ea typeface="Nunito"/>
                <a:cs typeface="Times New Roman"/>
              </a:rPr>
              <a:t>of both IT asset management and purchasing logistics within a large-scale energy company. </a:t>
            </a:r>
            <a:r>
              <a:rPr lang="en-US" sz="1200" cap="none" dirty="0" smtClean="0">
                <a:solidFill>
                  <a:srgbClr val="000000"/>
                </a:solidFill>
                <a:ea typeface="Nunito"/>
                <a:cs typeface="Times New Roman"/>
              </a:rPr>
              <a:t>Committed to </a:t>
            </a:r>
            <a:r>
              <a:rPr lang="en-US" sz="1200" cap="none" dirty="0">
                <a:solidFill>
                  <a:srgbClr val="000000"/>
                </a:solidFill>
                <a:ea typeface="Nunito"/>
                <a:cs typeface="Times New Roman"/>
              </a:rPr>
              <a:t>ethical practices and the safeguarding of sensitive </a:t>
            </a:r>
            <a:r>
              <a:rPr lang="en-US" sz="1200" cap="none" dirty="0" smtClean="0">
                <a:solidFill>
                  <a:srgbClr val="000000"/>
                </a:solidFill>
                <a:ea typeface="Nunito"/>
                <a:cs typeface="Times New Roman"/>
              </a:rPr>
              <a:t>information</a:t>
            </a:r>
            <a:r>
              <a:rPr lang="en-US" sz="1200" cap="none" dirty="0">
                <a:solidFill>
                  <a:srgbClr val="000000"/>
                </a:solidFill>
                <a:ea typeface="Nunito"/>
                <a:cs typeface="Times New Roman"/>
              </a:rPr>
              <a:t>. </a:t>
            </a:r>
            <a:endParaRPr lang="en-US" sz="1200" cap="none" dirty="0" smtClean="0">
              <a:solidFill>
                <a:srgbClr val="000000"/>
              </a:solidFill>
              <a:ea typeface="Nunito"/>
              <a:cs typeface="Times New Roman"/>
            </a:endParaRPr>
          </a:p>
          <a:p>
            <a:pPr lvl="0">
              <a:lnSpc>
                <a:spcPts val="1000"/>
              </a:lnSpc>
              <a:spcBef>
                <a:spcPts val="200"/>
              </a:spcBef>
            </a:pPr>
            <a:endParaRPr lang="en-US" sz="1200" cap="none" dirty="0" smtClean="0">
              <a:solidFill>
                <a:srgbClr val="000000"/>
              </a:solidFill>
              <a:ea typeface="Nunito"/>
              <a:cs typeface="Times New Roman"/>
            </a:endParaRPr>
          </a:p>
          <a:p>
            <a:pPr lvl="0">
              <a:lnSpc>
                <a:spcPts val="1000"/>
              </a:lnSpc>
              <a:spcBef>
                <a:spcPts val="200"/>
              </a:spcBef>
            </a:pPr>
            <a:r>
              <a:rPr lang="en-US" sz="1200" cap="none" dirty="0" smtClean="0">
                <a:solidFill>
                  <a:srgbClr val="000000"/>
                </a:solidFill>
                <a:ea typeface="Nunito"/>
                <a:cs typeface="Times New Roman"/>
              </a:rPr>
              <a:t>A </a:t>
            </a:r>
            <a:r>
              <a:rPr lang="en-US" sz="1200" cap="none" dirty="0">
                <a:solidFill>
                  <a:srgbClr val="000000"/>
                </a:solidFill>
                <a:ea typeface="Nunito"/>
                <a:cs typeface="Times New Roman"/>
              </a:rPr>
              <a:t>seasoned IT professional with over </a:t>
            </a:r>
            <a:r>
              <a:rPr lang="en-US" sz="1200" cap="none" dirty="0" smtClean="0">
                <a:solidFill>
                  <a:srgbClr val="000000"/>
                </a:solidFill>
                <a:ea typeface="Nunito"/>
                <a:cs typeface="Times New Roman"/>
              </a:rPr>
              <a:t>2 </a:t>
            </a:r>
            <a:r>
              <a:rPr lang="en-US" sz="1200" cap="none" dirty="0">
                <a:solidFill>
                  <a:srgbClr val="000000"/>
                </a:solidFill>
                <a:ea typeface="Nunito"/>
                <a:cs typeface="Times New Roman"/>
              </a:rPr>
              <a:t>years of experience in developing and maintaining a robust and dynamic training program for IT Asset Managers, covering key aspects of IT Asset Management, compliance, and best practices. </a:t>
            </a:r>
          </a:p>
          <a:p>
            <a:pPr lvl="0">
              <a:lnSpc>
                <a:spcPts val="1000"/>
              </a:lnSpc>
              <a:spcBef>
                <a:spcPts val="200"/>
              </a:spcBef>
            </a:pPr>
            <a:endParaRPr lang="en-US" sz="1200" cap="none" dirty="0">
              <a:solidFill>
                <a:srgbClr val="000000"/>
              </a:solidFill>
              <a:ea typeface="Nunito"/>
              <a:cs typeface="Times New Roman"/>
            </a:endParaRPr>
          </a:p>
          <a:p>
            <a:pPr lvl="0">
              <a:lnSpc>
                <a:spcPts val="1000"/>
              </a:lnSpc>
              <a:spcBef>
                <a:spcPts val="200"/>
              </a:spcBef>
            </a:pPr>
            <a:r>
              <a:rPr lang="en-US" sz="1200" cap="none" dirty="0" smtClean="0">
                <a:solidFill>
                  <a:srgbClr val="000000"/>
                </a:solidFill>
                <a:ea typeface="Nunito"/>
                <a:cs typeface="Times New Roman"/>
              </a:rPr>
              <a:t>Skilled </a:t>
            </a:r>
            <a:r>
              <a:rPr lang="en-US" sz="1200" cap="none" dirty="0">
                <a:solidFill>
                  <a:srgbClr val="000000"/>
                </a:solidFill>
                <a:ea typeface="Nunito"/>
                <a:cs typeface="Times New Roman"/>
              </a:rPr>
              <a:t>in creating engaging and informative training materials, designing and updating training curricula, and managing IT asset lifecycle. </a:t>
            </a:r>
            <a:endParaRPr lang="en-US" sz="1200" cap="none" dirty="0" smtClean="0">
              <a:solidFill>
                <a:srgbClr val="000000"/>
              </a:solidFill>
              <a:ea typeface="Nunito"/>
              <a:cs typeface="Times New Roman"/>
            </a:endParaRPr>
          </a:p>
          <a:p>
            <a:pPr lvl="0">
              <a:lnSpc>
                <a:spcPts val="1000"/>
              </a:lnSpc>
              <a:spcBef>
                <a:spcPts val="200"/>
              </a:spcBef>
            </a:pPr>
            <a:r>
              <a:rPr lang="en-US" sz="1200" cap="none" dirty="0" smtClean="0">
                <a:solidFill>
                  <a:srgbClr val="000000"/>
                </a:solidFill>
                <a:ea typeface="Nunito"/>
                <a:cs typeface="Times New Roman"/>
              </a:rPr>
              <a:t>WORKED </a:t>
            </a:r>
            <a:r>
              <a:rPr lang="en-US" sz="1200" cap="none" dirty="0">
                <a:solidFill>
                  <a:srgbClr val="000000"/>
                </a:solidFill>
                <a:ea typeface="Nunito"/>
                <a:cs typeface="Times New Roman"/>
              </a:rPr>
              <a:t>in IT Asset Management </a:t>
            </a:r>
            <a:r>
              <a:rPr lang="en-US" sz="1200" cap="none" dirty="0" smtClean="0">
                <a:solidFill>
                  <a:srgbClr val="000000"/>
                </a:solidFill>
                <a:ea typeface="Nunito"/>
                <a:cs typeface="Times New Roman"/>
              </a:rPr>
              <a:t>(ITAM</a:t>
            </a:r>
            <a:r>
              <a:rPr lang="en-US" sz="1200" cap="none" dirty="0">
                <a:solidFill>
                  <a:srgbClr val="000000"/>
                </a:solidFill>
                <a:ea typeface="Nunito"/>
                <a:cs typeface="Times New Roman"/>
              </a:rPr>
              <a:t>) and proficient in various software and tools, such as </a:t>
            </a:r>
            <a:r>
              <a:rPr lang="en-US" sz="1200" cap="none" dirty="0" err="1">
                <a:solidFill>
                  <a:srgbClr val="000000"/>
                </a:solidFill>
                <a:ea typeface="Nunito"/>
                <a:cs typeface="Times New Roman"/>
              </a:rPr>
              <a:t>ServiceNow</a:t>
            </a:r>
            <a:r>
              <a:rPr lang="en-US" sz="1200" cap="none" dirty="0">
                <a:solidFill>
                  <a:srgbClr val="000000"/>
                </a:solidFill>
                <a:ea typeface="Nunito"/>
                <a:cs typeface="Times New Roman"/>
              </a:rPr>
              <a:t>, </a:t>
            </a:r>
            <a:r>
              <a:rPr lang="en-US" sz="1200" cap="none" dirty="0" err="1">
                <a:solidFill>
                  <a:srgbClr val="000000"/>
                </a:solidFill>
                <a:ea typeface="Nunito"/>
                <a:cs typeface="Times New Roman"/>
              </a:rPr>
              <a:t>LANsweeper</a:t>
            </a:r>
            <a:r>
              <a:rPr lang="en-US" sz="1200" cap="none" dirty="0">
                <a:solidFill>
                  <a:srgbClr val="000000"/>
                </a:solidFill>
                <a:ea typeface="Nunito"/>
                <a:cs typeface="Times New Roman"/>
              </a:rPr>
              <a:t>, </a:t>
            </a:r>
            <a:r>
              <a:rPr lang="en-US" sz="1200" cap="none" dirty="0" err="1">
                <a:solidFill>
                  <a:srgbClr val="000000"/>
                </a:solidFill>
                <a:ea typeface="Nunito"/>
                <a:cs typeface="Times New Roman"/>
              </a:rPr>
              <a:t>Zoho</a:t>
            </a:r>
            <a:r>
              <a:rPr lang="en-US" sz="1200" cap="none" dirty="0">
                <a:solidFill>
                  <a:srgbClr val="000000"/>
                </a:solidFill>
                <a:ea typeface="Nunito"/>
                <a:cs typeface="Times New Roman"/>
              </a:rPr>
              <a:t> </a:t>
            </a:r>
            <a:r>
              <a:rPr lang="en-US" sz="1200" cap="none" dirty="0" smtClean="0">
                <a:solidFill>
                  <a:srgbClr val="000000"/>
                </a:solidFill>
                <a:ea typeface="Nunito"/>
                <a:cs typeface="Times New Roman"/>
              </a:rPr>
              <a:t>Asset Management.</a:t>
            </a:r>
          </a:p>
          <a:p>
            <a:pPr lvl="0">
              <a:lnSpc>
                <a:spcPts val="1000"/>
              </a:lnSpc>
              <a:spcBef>
                <a:spcPts val="200"/>
              </a:spcBef>
            </a:pPr>
            <a:endParaRPr lang="en-US" sz="1200" cap="none" dirty="0">
              <a:solidFill>
                <a:srgbClr val="000000"/>
              </a:solidFill>
              <a:ea typeface="Nunito"/>
              <a:cs typeface="Times New Roman"/>
            </a:endParaRPr>
          </a:p>
          <a:p>
            <a:pPr lvl="0">
              <a:lnSpc>
                <a:spcPts val="1000"/>
              </a:lnSpc>
              <a:spcBef>
                <a:spcPts val="200"/>
              </a:spcBef>
            </a:pPr>
            <a:r>
              <a:rPr lang="en-US" sz="1200" cap="none" dirty="0" smtClean="0">
                <a:solidFill>
                  <a:srgbClr val="000000"/>
                </a:solidFill>
                <a:ea typeface="Nunito"/>
                <a:cs typeface="Times New Roman"/>
              </a:rPr>
              <a:t>Developed </a:t>
            </a:r>
            <a:r>
              <a:rPr lang="en-US" sz="1200" cap="none" dirty="0">
                <a:solidFill>
                  <a:srgbClr val="000000"/>
                </a:solidFill>
                <a:ea typeface="Nunito"/>
                <a:cs typeface="Times New Roman"/>
              </a:rPr>
              <a:t>and executed data cleansing activities, enhancing data integrity by 60% and enabling more accurate asset reporting.</a:t>
            </a:r>
          </a:p>
          <a:p>
            <a:pPr lvl="0">
              <a:lnSpc>
                <a:spcPts val="1000"/>
              </a:lnSpc>
              <a:spcBef>
                <a:spcPts val="200"/>
              </a:spcBef>
            </a:pPr>
            <a:r>
              <a:rPr lang="en-US" sz="1200" cap="none" dirty="0">
                <a:solidFill>
                  <a:srgbClr val="000000"/>
                </a:solidFill>
                <a:ea typeface="Nunito"/>
                <a:cs typeface="Times New Roman"/>
              </a:rPr>
              <a:t>Managed IT asset lifecycle, optimizing utilization and value, leading to a decrease in technology expenditure by 30</a:t>
            </a:r>
            <a:r>
              <a:rPr lang="en-US" sz="1200" cap="none" dirty="0" smtClean="0">
                <a:solidFill>
                  <a:srgbClr val="000000"/>
                </a:solidFill>
                <a:ea typeface="Nunito"/>
                <a:cs typeface="Times New Roman"/>
              </a:rPr>
              <a:t>%.</a:t>
            </a:r>
          </a:p>
          <a:p>
            <a:pPr lvl="0">
              <a:lnSpc>
                <a:spcPts val="1000"/>
              </a:lnSpc>
              <a:spcBef>
                <a:spcPts val="200"/>
              </a:spcBef>
            </a:pPr>
            <a:endParaRPr lang="en-US" sz="1200" cap="none" dirty="0">
              <a:solidFill>
                <a:srgbClr val="000000"/>
              </a:solidFill>
              <a:ea typeface="Nunito"/>
              <a:cs typeface="Times New Roman"/>
            </a:endParaRPr>
          </a:p>
          <a:p>
            <a:pPr lvl="0">
              <a:lnSpc>
                <a:spcPts val="1000"/>
              </a:lnSpc>
              <a:spcBef>
                <a:spcPts val="200"/>
              </a:spcBef>
            </a:pPr>
            <a:endParaRPr lang="en-US" sz="1200" b="1" dirty="0" smtClean="0"/>
          </a:p>
          <a:p>
            <a:pPr lvl="0"/>
            <a:endParaRPr lang="en-US" sz="1200" b="1" dirty="0" smtClean="0"/>
          </a:p>
          <a:p>
            <a:pPr lvl="0"/>
            <a:endParaRPr kumimoji="0" lang="en-US" sz="1200" b="0" i="0" u="none" strike="noStrike" kern="1200" cap="all"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6912266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37">
            <a:extLst>
              <a:ext uri="{FF2B5EF4-FFF2-40B4-BE49-F238E27FC236}">
                <a16:creationId xmlns="" xmlns:a16="http://schemas.microsoft.com/office/drawing/2014/main" id="{5491332B-F4C1-A0E1-A243-C0CE24E11292}"/>
              </a:ext>
            </a:extLst>
          </p:cNvPr>
          <p:cNvSpPr txBox="1">
            <a:spLocks/>
          </p:cNvSpPr>
          <p:nvPr/>
        </p:nvSpPr>
        <p:spPr>
          <a:xfrm>
            <a:off x="436380" y="539552"/>
            <a:ext cx="2542032" cy="280987"/>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400" kern="1200" cap="all" baseline="0">
                <a:solidFill>
                  <a:schemeClr val="tx1"/>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1400" b="0" i="0" u="none" strike="noStrike" kern="1200" cap="all" spc="0" normalizeH="0" baseline="0" noProof="0" dirty="0" smtClean="0">
                <a:ln>
                  <a:noFill/>
                </a:ln>
                <a:solidFill>
                  <a:srgbClr val="000000"/>
                </a:solidFill>
                <a:effectLst/>
                <a:uLnTx/>
                <a:uFillTx/>
                <a:latin typeface="Arial Black"/>
                <a:ea typeface="+mn-ea"/>
                <a:cs typeface="+mn-cs"/>
              </a:rPr>
              <a:t>EXPERIENCE</a:t>
            </a:r>
            <a:endParaRPr kumimoji="0" lang="en-US" sz="1400" b="0" i="0" u="none" strike="noStrike" kern="1200" cap="all" spc="0" normalizeH="0" baseline="0" noProof="0" dirty="0">
              <a:ln>
                <a:noFill/>
              </a:ln>
              <a:solidFill>
                <a:srgbClr val="000000"/>
              </a:solidFill>
              <a:effectLst/>
              <a:uLnTx/>
              <a:uFillTx/>
              <a:latin typeface="Arial Black"/>
              <a:ea typeface="+mn-ea"/>
              <a:cs typeface="+mn-cs"/>
            </a:endParaRPr>
          </a:p>
        </p:txBody>
      </p:sp>
      <p:cxnSp>
        <p:nvCxnSpPr>
          <p:cNvPr id="6" name="Straight Connector 5"/>
          <p:cNvCxnSpPr/>
          <p:nvPr/>
        </p:nvCxnSpPr>
        <p:spPr>
          <a:xfrm>
            <a:off x="524680" y="503703"/>
            <a:ext cx="1078992" cy="0"/>
          </a:xfrm>
          <a:prstGeom prst="line">
            <a:avLst/>
          </a:prstGeom>
          <a:noFill/>
          <a:ln w="50800" cap="flat" cmpd="sng" algn="ctr">
            <a:solidFill>
              <a:srgbClr val="000000"/>
            </a:solidFill>
            <a:prstDash val="solid"/>
            <a:miter lim="800000"/>
          </a:ln>
          <a:effectLst/>
        </p:spPr>
      </p:cxnSp>
      <p:sp>
        <p:nvSpPr>
          <p:cNvPr id="7" name="Text Placeholder 56">
            <a:extLst>
              <a:ext uri="{FF2B5EF4-FFF2-40B4-BE49-F238E27FC236}">
                <a16:creationId xmlns="" xmlns:a16="http://schemas.microsoft.com/office/drawing/2014/main" id="{0D464243-B20F-7310-E459-52DDC9A14841}"/>
              </a:ext>
            </a:extLst>
          </p:cNvPr>
          <p:cNvSpPr txBox="1">
            <a:spLocks/>
          </p:cNvSpPr>
          <p:nvPr/>
        </p:nvSpPr>
        <p:spPr>
          <a:xfrm>
            <a:off x="452900" y="820538"/>
            <a:ext cx="2976100" cy="7495878"/>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sz="1000" b="0" kern="1200" cap="all" baseline="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0">
              <a:lnSpc>
                <a:spcPts val="1000"/>
              </a:lnSpc>
              <a:spcBef>
                <a:spcPts val="200"/>
              </a:spcBef>
            </a:pPr>
            <a:r>
              <a:rPr lang="en-US" sz="1200" b="1" dirty="0">
                <a:solidFill>
                  <a:srgbClr val="000000"/>
                </a:solidFill>
                <a:ea typeface="Nunito"/>
                <a:cs typeface="Times New Roman"/>
              </a:rPr>
              <a:t>Management Assistant </a:t>
            </a:r>
            <a:r>
              <a:rPr lang="en-US" sz="1200" b="1" dirty="0" smtClean="0">
                <a:solidFill>
                  <a:srgbClr val="000000"/>
                </a:solidFill>
                <a:ea typeface="Nunito"/>
                <a:cs typeface="Times New Roman"/>
              </a:rPr>
              <a:t>(PART 2)</a:t>
            </a:r>
            <a:endParaRPr lang="en-US" sz="1200" b="1" dirty="0">
              <a:solidFill>
                <a:srgbClr val="000000"/>
              </a:solidFill>
              <a:ea typeface="Nunito"/>
              <a:cs typeface="Times New Roman"/>
            </a:endParaRPr>
          </a:p>
          <a:p>
            <a:pPr lvl="0">
              <a:lnSpc>
                <a:spcPts val="1000"/>
              </a:lnSpc>
              <a:spcBef>
                <a:spcPts val="200"/>
              </a:spcBef>
            </a:pPr>
            <a:r>
              <a:rPr lang="en-US" sz="1200" b="1" dirty="0"/>
              <a:t>Florida Power &amp; Light, Remote </a:t>
            </a:r>
          </a:p>
          <a:p>
            <a:pPr lvl="0">
              <a:lnSpc>
                <a:spcPts val="1000"/>
              </a:lnSpc>
              <a:spcBef>
                <a:spcPts val="200"/>
              </a:spcBef>
            </a:pPr>
            <a:r>
              <a:rPr lang="en-US" sz="1200" b="1" dirty="0"/>
              <a:t>July 2021 – JULY </a:t>
            </a:r>
            <a:r>
              <a:rPr lang="en-US" sz="1200" b="1" dirty="0" smtClean="0"/>
              <a:t>2023</a:t>
            </a:r>
            <a:endParaRPr lang="en-US" sz="1200" b="1" dirty="0" smtClean="0">
              <a:solidFill>
                <a:srgbClr val="000000"/>
              </a:solidFill>
              <a:ea typeface="Nunito"/>
              <a:cs typeface="Times New Roman"/>
            </a:endParaRPr>
          </a:p>
          <a:p>
            <a:pPr lvl="0">
              <a:lnSpc>
                <a:spcPts val="1000"/>
              </a:lnSpc>
              <a:spcBef>
                <a:spcPts val="200"/>
              </a:spcBef>
            </a:pPr>
            <a:endParaRPr lang="en-US" sz="1200" b="1" i="1" cap="none" dirty="0">
              <a:solidFill>
                <a:srgbClr val="000000"/>
              </a:solidFill>
              <a:ea typeface="Nunito"/>
              <a:cs typeface="Times New Roman"/>
            </a:endParaRPr>
          </a:p>
          <a:p>
            <a:pPr lvl="0">
              <a:lnSpc>
                <a:spcPts val="1000"/>
              </a:lnSpc>
              <a:spcBef>
                <a:spcPts val="200"/>
              </a:spcBef>
            </a:pPr>
            <a:r>
              <a:rPr lang="en-US" sz="1200" b="1" i="1" cap="none" dirty="0">
                <a:solidFill>
                  <a:srgbClr val="000000"/>
                </a:solidFill>
                <a:ea typeface="Nunito"/>
                <a:cs typeface="Times New Roman"/>
              </a:rPr>
              <a:t>IT Asset Manager</a:t>
            </a:r>
          </a:p>
          <a:p>
            <a:pPr lvl="0">
              <a:lnSpc>
                <a:spcPts val="1000"/>
              </a:lnSpc>
              <a:spcBef>
                <a:spcPts val="200"/>
              </a:spcBef>
            </a:pPr>
            <a:r>
              <a:rPr lang="en-US" sz="1200" cap="none" dirty="0">
                <a:solidFill>
                  <a:srgbClr val="000000"/>
                </a:solidFill>
                <a:ea typeface="Nunito"/>
                <a:cs typeface="Times New Roman"/>
              </a:rPr>
              <a:t>Led a team of 5 in achieving 99% compliance in software asset management, minimizing risk of license fines and penalties by 80%. Implemented ITIL asset management best practices, reducing excess software purchases by 45% annually</a:t>
            </a:r>
          </a:p>
          <a:p>
            <a:pPr lvl="0">
              <a:lnSpc>
                <a:spcPts val="1000"/>
              </a:lnSpc>
              <a:spcBef>
                <a:spcPts val="200"/>
              </a:spcBef>
            </a:pPr>
            <a:endParaRPr lang="en-US" sz="1200" b="1" i="1" cap="none" dirty="0" smtClean="0">
              <a:solidFill>
                <a:srgbClr val="000000"/>
              </a:solidFill>
              <a:ea typeface="Nunito"/>
              <a:cs typeface="Times New Roman"/>
            </a:endParaRPr>
          </a:p>
          <a:p>
            <a:pPr lvl="0">
              <a:lnSpc>
                <a:spcPts val="1000"/>
              </a:lnSpc>
              <a:spcBef>
                <a:spcPts val="200"/>
              </a:spcBef>
            </a:pPr>
            <a:r>
              <a:rPr lang="en-US" sz="1200" b="1" i="1" cap="none" dirty="0" smtClean="0">
                <a:solidFill>
                  <a:srgbClr val="000000"/>
                </a:solidFill>
                <a:ea typeface="Nunito"/>
                <a:cs typeface="Times New Roman"/>
              </a:rPr>
              <a:t>IT </a:t>
            </a:r>
            <a:r>
              <a:rPr lang="en-US" sz="1200" b="1" i="1" cap="none" dirty="0">
                <a:solidFill>
                  <a:srgbClr val="000000"/>
                </a:solidFill>
                <a:ea typeface="Nunito"/>
                <a:cs typeface="Times New Roman"/>
              </a:rPr>
              <a:t>Asset Analyst</a:t>
            </a:r>
          </a:p>
          <a:p>
            <a:pPr lvl="0">
              <a:lnSpc>
                <a:spcPts val="1000"/>
              </a:lnSpc>
              <a:spcBef>
                <a:spcPts val="200"/>
              </a:spcBef>
            </a:pPr>
            <a:r>
              <a:rPr lang="en-US" sz="1200" cap="none" dirty="0">
                <a:solidFill>
                  <a:srgbClr val="000000"/>
                </a:solidFill>
                <a:ea typeface="Nunito"/>
                <a:cs typeface="Times New Roman"/>
              </a:rPr>
              <a:t>Streamlined data input process for asset tracking, improving data accuracy by 40%.</a:t>
            </a:r>
          </a:p>
          <a:p>
            <a:pPr lvl="0">
              <a:lnSpc>
                <a:spcPts val="1000"/>
              </a:lnSpc>
              <a:spcBef>
                <a:spcPts val="200"/>
              </a:spcBef>
            </a:pPr>
            <a:r>
              <a:rPr lang="en-US" sz="1200" cap="none" dirty="0">
                <a:solidFill>
                  <a:srgbClr val="000000"/>
                </a:solidFill>
                <a:ea typeface="Nunito"/>
                <a:cs typeface="Times New Roman"/>
              </a:rPr>
              <a:t>Facilitated and maintained accurate and compatible asset database, supporting business departments in strategic decision-making. Conducted comprehensive audits of IT equipment, assuring 100% accountability of all assets.</a:t>
            </a:r>
          </a:p>
          <a:p>
            <a:pPr lvl="0">
              <a:lnSpc>
                <a:spcPts val="1000"/>
              </a:lnSpc>
              <a:spcBef>
                <a:spcPts val="200"/>
              </a:spcBef>
            </a:pPr>
            <a:r>
              <a:rPr lang="en-US" sz="1200" cap="none" dirty="0">
                <a:solidFill>
                  <a:srgbClr val="000000"/>
                </a:solidFill>
                <a:ea typeface="Nunito"/>
                <a:cs typeface="Times New Roman"/>
              </a:rPr>
              <a:t>Focused coursework in IT, Operations Management, and Data Analysis.</a:t>
            </a:r>
          </a:p>
          <a:p>
            <a:pPr lvl="0">
              <a:lnSpc>
                <a:spcPts val="1000"/>
              </a:lnSpc>
              <a:spcBef>
                <a:spcPts val="200"/>
              </a:spcBef>
            </a:pPr>
            <a:endParaRPr lang="en-US" sz="1200" b="1" i="1" cap="none" dirty="0" smtClean="0">
              <a:solidFill>
                <a:srgbClr val="000000"/>
              </a:solidFill>
              <a:ea typeface="Nunito"/>
              <a:cs typeface="Times New Roman"/>
            </a:endParaRPr>
          </a:p>
          <a:p>
            <a:pPr lvl="0">
              <a:lnSpc>
                <a:spcPts val="1000"/>
              </a:lnSpc>
              <a:spcBef>
                <a:spcPts val="200"/>
              </a:spcBef>
            </a:pPr>
            <a:r>
              <a:rPr lang="en-US" sz="1200" b="1" i="1" cap="none" dirty="0" smtClean="0">
                <a:solidFill>
                  <a:srgbClr val="000000"/>
                </a:solidFill>
                <a:ea typeface="Nunito"/>
                <a:cs typeface="Times New Roman"/>
              </a:rPr>
              <a:t>Purchasing </a:t>
            </a:r>
            <a:r>
              <a:rPr lang="en-US" sz="1200" b="1" i="1" cap="none" dirty="0">
                <a:solidFill>
                  <a:srgbClr val="000000"/>
                </a:solidFill>
                <a:ea typeface="Nunito"/>
                <a:cs typeface="Times New Roman"/>
              </a:rPr>
              <a:t>Management: </a:t>
            </a:r>
            <a:r>
              <a:rPr lang="en-US" sz="1200" cap="none" dirty="0">
                <a:solidFill>
                  <a:srgbClr val="000000"/>
                </a:solidFill>
                <a:ea typeface="Nunito"/>
                <a:cs typeface="Times New Roman"/>
              </a:rPr>
              <a:t>Assisted in executing purchase requisitions, supervising stock levels of equipment and tools, and determining purchase needs based on business requirements.</a:t>
            </a:r>
          </a:p>
          <a:p>
            <a:pPr lvl="0">
              <a:lnSpc>
                <a:spcPts val="1000"/>
              </a:lnSpc>
              <a:spcBef>
                <a:spcPts val="200"/>
              </a:spcBef>
            </a:pPr>
            <a:endParaRPr lang="en-US" sz="1200" b="1" i="1" cap="none" dirty="0" smtClean="0">
              <a:solidFill>
                <a:srgbClr val="000000"/>
              </a:solidFill>
              <a:ea typeface="Nunito"/>
              <a:cs typeface="Times New Roman"/>
            </a:endParaRPr>
          </a:p>
          <a:p>
            <a:pPr lvl="0">
              <a:lnSpc>
                <a:spcPts val="1000"/>
              </a:lnSpc>
              <a:spcBef>
                <a:spcPts val="200"/>
              </a:spcBef>
            </a:pPr>
            <a:r>
              <a:rPr lang="en-US" sz="1200" b="1" i="1" cap="none" dirty="0" smtClean="0">
                <a:solidFill>
                  <a:srgbClr val="000000"/>
                </a:solidFill>
                <a:ea typeface="Nunito"/>
                <a:cs typeface="Times New Roman"/>
              </a:rPr>
              <a:t>Order </a:t>
            </a:r>
            <a:r>
              <a:rPr lang="en-US" sz="1200" b="1" i="1" cap="none" dirty="0">
                <a:solidFill>
                  <a:srgbClr val="000000"/>
                </a:solidFill>
                <a:ea typeface="Nunito"/>
                <a:cs typeface="Times New Roman"/>
              </a:rPr>
              <a:t>Tracking: </a:t>
            </a:r>
            <a:r>
              <a:rPr lang="en-US" sz="1200" cap="none" dirty="0">
                <a:solidFill>
                  <a:srgbClr val="000000"/>
                </a:solidFill>
                <a:ea typeface="Nunito"/>
                <a:cs typeface="Times New Roman"/>
              </a:rPr>
              <a:t>Ensured adherence to purchasing logistics by tracking orders and supervising the logistics of purchase deliveries.</a:t>
            </a:r>
          </a:p>
          <a:p>
            <a:pPr lvl="0">
              <a:lnSpc>
                <a:spcPts val="1000"/>
              </a:lnSpc>
              <a:spcBef>
                <a:spcPts val="200"/>
              </a:spcBef>
            </a:pPr>
            <a:endParaRPr lang="en-US" sz="1200" b="1" i="1" cap="none" dirty="0" smtClean="0">
              <a:solidFill>
                <a:srgbClr val="000000"/>
              </a:solidFill>
              <a:ea typeface="Nunito"/>
              <a:cs typeface="Times New Roman"/>
            </a:endParaRPr>
          </a:p>
          <a:p>
            <a:pPr lvl="0">
              <a:lnSpc>
                <a:spcPts val="1000"/>
              </a:lnSpc>
              <a:spcBef>
                <a:spcPts val="200"/>
              </a:spcBef>
            </a:pPr>
            <a:r>
              <a:rPr lang="en-US" sz="1200" b="1" i="1" cap="none" dirty="0" smtClean="0">
                <a:solidFill>
                  <a:srgbClr val="000000"/>
                </a:solidFill>
                <a:ea typeface="Nunito"/>
                <a:cs typeface="Times New Roman"/>
              </a:rPr>
              <a:t>Asset </a:t>
            </a:r>
            <a:r>
              <a:rPr lang="en-US" sz="1200" b="1" i="1" cap="none" dirty="0">
                <a:solidFill>
                  <a:srgbClr val="000000"/>
                </a:solidFill>
                <a:ea typeface="Nunito"/>
                <a:cs typeface="Times New Roman"/>
              </a:rPr>
              <a:t>Withdrawals &amp; Renewals: </a:t>
            </a:r>
            <a:r>
              <a:rPr lang="en-US" sz="1200" cap="none" dirty="0">
                <a:solidFill>
                  <a:srgbClr val="000000"/>
                </a:solidFill>
                <a:ea typeface="Nunito"/>
                <a:cs typeface="Times New Roman"/>
              </a:rPr>
              <a:t>Managed the withdrawal and renewal of assets, including computer equipment and hardware. Oversaw technical channeling for repairs to recycling based on the equipment’s ability to meet the company’s Cyber Security demands.</a:t>
            </a:r>
          </a:p>
          <a:p>
            <a:pPr lvl="0">
              <a:lnSpc>
                <a:spcPts val="1000"/>
              </a:lnSpc>
              <a:spcBef>
                <a:spcPts val="200"/>
              </a:spcBef>
            </a:pPr>
            <a:endParaRPr lang="en-US" sz="1200" b="1" i="1" cap="none" dirty="0" smtClean="0">
              <a:solidFill>
                <a:srgbClr val="000000"/>
              </a:solidFill>
              <a:ea typeface="Nunito"/>
              <a:cs typeface="Times New Roman"/>
            </a:endParaRPr>
          </a:p>
          <a:p>
            <a:pPr lvl="0">
              <a:lnSpc>
                <a:spcPts val="1000"/>
              </a:lnSpc>
              <a:spcBef>
                <a:spcPts val="200"/>
              </a:spcBef>
            </a:pPr>
            <a:r>
              <a:rPr lang="en-US" sz="1200" b="1" i="1" cap="none" dirty="0" smtClean="0">
                <a:solidFill>
                  <a:srgbClr val="000000"/>
                </a:solidFill>
                <a:ea typeface="Nunito"/>
                <a:cs typeface="Times New Roman"/>
              </a:rPr>
              <a:t>Ethics </a:t>
            </a:r>
            <a:r>
              <a:rPr lang="en-US" sz="1200" b="1" i="1" cap="none" dirty="0">
                <a:solidFill>
                  <a:srgbClr val="000000"/>
                </a:solidFill>
                <a:ea typeface="Nunito"/>
                <a:cs typeface="Times New Roman"/>
              </a:rPr>
              <a:t>&amp; Confidentiality:</a:t>
            </a:r>
            <a:r>
              <a:rPr lang="en-US" sz="1200" cap="none" dirty="0">
                <a:solidFill>
                  <a:srgbClr val="000000"/>
                </a:solidFill>
                <a:ea typeface="Nunito"/>
                <a:cs typeface="Times New Roman"/>
              </a:rPr>
              <a:t> Upheld respect, ethics, and honesty in safeguarding user information across all levels, from administrative to full energy production and scientific research projects.</a:t>
            </a:r>
          </a:p>
          <a:p>
            <a:pPr lvl="0">
              <a:lnSpc>
                <a:spcPts val="1000"/>
              </a:lnSpc>
              <a:spcBef>
                <a:spcPts val="200"/>
              </a:spcBef>
            </a:pPr>
            <a:endParaRPr lang="en-US" sz="1200" b="1" dirty="0" smtClean="0">
              <a:solidFill>
                <a:srgbClr val="000000"/>
              </a:solidFill>
              <a:ea typeface="Nunito"/>
              <a:cs typeface="Times New Roman"/>
            </a:endParaRPr>
          </a:p>
          <a:p>
            <a:pPr lvl="0">
              <a:lnSpc>
                <a:spcPts val="1000"/>
              </a:lnSpc>
              <a:spcBef>
                <a:spcPts val="200"/>
              </a:spcBef>
            </a:pPr>
            <a:endParaRPr lang="en-US" sz="1200" b="1" dirty="0"/>
          </a:p>
        </p:txBody>
      </p:sp>
      <p:sp>
        <p:nvSpPr>
          <p:cNvPr id="9" name="Text Placeholder 37">
            <a:extLst>
              <a:ext uri="{FF2B5EF4-FFF2-40B4-BE49-F238E27FC236}">
                <a16:creationId xmlns="" xmlns:a16="http://schemas.microsoft.com/office/drawing/2014/main" id="{5491332B-F4C1-A0E1-A243-C0CE24E11292}"/>
              </a:ext>
            </a:extLst>
          </p:cNvPr>
          <p:cNvSpPr txBox="1">
            <a:spLocks/>
          </p:cNvSpPr>
          <p:nvPr/>
        </p:nvSpPr>
        <p:spPr>
          <a:xfrm>
            <a:off x="3564880" y="539552"/>
            <a:ext cx="2542032" cy="280987"/>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400" kern="1200" cap="all" baseline="0">
                <a:solidFill>
                  <a:schemeClr val="tx1"/>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1400" b="0" i="0" u="none" strike="noStrike" kern="1200" cap="all" spc="0" normalizeH="0" baseline="0" noProof="0" dirty="0" smtClean="0">
                <a:ln>
                  <a:noFill/>
                </a:ln>
                <a:solidFill>
                  <a:srgbClr val="000000"/>
                </a:solidFill>
                <a:effectLst/>
                <a:uLnTx/>
                <a:uFillTx/>
                <a:latin typeface="Arial Black"/>
                <a:ea typeface="+mn-ea"/>
                <a:cs typeface="+mn-cs"/>
              </a:rPr>
              <a:t>EXPERIENCE</a:t>
            </a:r>
            <a:endParaRPr kumimoji="0" lang="en-US" sz="1400" b="0" i="0" u="none" strike="noStrike" kern="1200" cap="all" spc="0" normalizeH="0" baseline="0" noProof="0" dirty="0">
              <a:ln>
                <a:noFill/>
              </a:ln>
              <a:solidFill>
                <a:srgbClr val="000000"/>
              </a:solidFill>
              <a:effectLst/>
              <a:uLnTx/>
              <a:uFillTx/>
              <a:latin typeface="Arial Black"/>
              <a:ea typeface="+mn-ea"/>
              <a:cs typeface="+mn-cs"/>
            </a:endParaRPr>
          </a:p>
        </p:txBody>
      </p:sp>
      <p:cxnSp>
        <p:nvCxnSpPr>
          <p:cNvPr id="10" name="Straight Connector 5"/>
          <p:cNvCxnSpPr/>
          <p:nvPr/>
        </p:nvCxnSpPr>
        <p:spPr>
          <a:xfrm>
            <a:off x="3653180" y="503703"/>
            <a:ext cx="1078992" cy="0"/>
          </a:xfrm>
          <a:prstGeom prst="line">
            <a:avLst/>
          </a:prstGeom>
          <a:noFill/>
          <a:ln w="50800" cap="flat" cmpd="sng" algn="ctr">
            <a:solidFill>
              <a:srgbClr val="000000"/>
            </a:solidFill>
            <a:prstDash val="solid"/>
            <a:miter lim="800000"/>
          </a:ln>
          <a:effectLst/>
        </p:spPr>
      </p:cxnSp>
      <p:sp>
        <p:nvSpPr>
          <p:cNvPr id="11" name="Text Placeholder 56">
            <a:extLst>
              <a:ext uri="{FF2B5EF4-FFF2-40B4-BE49-F238E27FC236}">
                <a16:creationId xmlns="" xmlns:a16="http://schemas.microsoft.com/office/drawing/2014/main" id="{0D464243-B20F-7310-E459-52DDC9A14841}"/>
              </a:ext>
            </a:extLst>
          </p:cNvPr>
          <p:cNvSpPr txBox="1">
            <a:spLocks/>
          </p:cNvSpPr>
          <p:nvPr/>
        </p:nvSpPr>
        <p:spPr>
          <a:xfrm>
            <a:off x="3564880" y="865318"/>
            <a:ext cx="2976100" cy="4255518"/>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sz="1000" b="0" kern="1200" cap="all" baseline="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0">
              <a:lnSpc>
                <a:spcPts val="1000"/>
              </a:lnSpc>
              <a:spcBef>
                <a:spcPts val="200"/>
              </a:spcBef>
            </a:pPr>
            <a:r>
              <a:rPr lang="en-US" sz="1200" b="1" dirty="0">
                <a:solidFill>
                  <a:srgbClr val="000000"/>
                </a:solidFill>
                <a:ea typeface="Nunito"/>
                <a:cs typeface="Times New Roman"/>
              </a:rPr>
              <a:t>Data Engineer</a:t>
            </a:r>
          </a:p>
          <a:p>
            <a:pPr lvl="0">
              <a:lnSpc>
                <a:spcPts val="1000"/>
              </a:lnSpc>
              <a:spcBef>
                <a:spcPts val="200"/>
              </a:spcBef>
            </a:pPr>
            <a:r>
              <a:rPr lang="en-US" sz="1200" b="1" dirty="0"/>
              <a:t>Nippon Telegraph And Telephone</a:t>
            </a:r>
          </a:p>
          <a:p>
            <a:pPr lvl="0">
              <a:lnSpc>
                <a:spcPts val="1000"/>
              </a:lnSpc>
              <a:spcBef>
                <a:spcPts val="200"/>
              </a:spcBef>
            </a:pPr>
            <a:r>
              <a:rPr lang="en-US" sz="1200" b="1" dirty="0"/>
              <a:t>May 2019 - July 2021</a:t>
            </a:r>
          </a:p>
          <a:p>
            <a:pPr lvl="0">
              <a:lnSpc>
                <a:spcPts val="1000"/>
              </a:lnSpc>
              <a:spcBef>
                <a:spcPts val="200"/>
              </a:spcBef>
            </a:pPr>
            <a:r>
              <a:rPr lang="en-US" sz="1200" b="1" dirty="0"/>
              <a:t>Culiacan, </a:t>
            </a:r>
            <a:r>
              <a:rPr lang="en-US" sz="1200" b="1" dirty="0" err="1"/>
              <a:t>mexico</a:t>
            </a:r>
            <a:r>
              <a:rPr lang="en-US" sz="1200" b="1" dirty="0"/>
              <a:t> </a:t>
            </a:r>
          </a:p>
          <a:p>
            <a:pPr lvl="0">
              <a:lnSpc>
                <a:spcPts val="1000"/>
              </a:lnSpc>
              <a:spcBef>
                <a:spcPts val="200"/>
              </a:spcBef>
            </a:pPr>
            <a:r>
              <a:rPr lang="en-US" sz="1200" cap="none" dirty="0">
                <a:solidFill>
                  <a:srgbClr val="000000"/>
                </a:solidFill>
                <a:ea typeface="Nunito"/>
                <a:cs typeface="Times New Roman"/>
              </a:rPr>
              <a:t>Strong ability to provide comprehensive technical support, from server assembly to workstation solutions. Commitment to ethical practices in handling sensitive information, especially in scientific research projects. </a:t>
            </a:r>
          </a:p>
          <a:p>
            <a:pPr lvl="0">
              <a:lnSpc>
                <a:spcPts val="1000"/>
              </a:lnSpc>
              <a:spcBef>
                <a:spcPts val="200"/>
              </a:spcBef>
            </a:pPr>
            <a:endParaRPr lang="en-US" sz="1200" i="1" cap="none" dirty="0">
              <a:solidFill>
                <a:srgbClr val="000000"/>
              </a:solidFill>
              <a:ea typeface="Nunito"/>
              <a:cs typeface="Times New Roman"/>
            </a:endParaRPr>
          </a:p>
          <a:p>
            <a:pPr lvl="0">
              <a:lnSpc>
                <a:spcPts val="1000"/>
              </a:lnSpc>
              <a:spcBef>
                <a:spcPts val="200"/>
              </a:spcBef>
            </a:pPr>
            <a:r>
              <a:rPr lang="en-US" sz="1200" b="1" i="1" cap="none" dirty="0">
                <a:solidFill>
                  <a:srgbClr val="000000"/>
                </a:solidFill>
                <a:ea typeface="Nunito"/>
                <a:cs typeface="Times New Roman"/>
              </a:rPr>
              <a:t>Technical Support: </a:t>
            </a:r>
            <a:r>
              <a:rPr lang="en-US" sz="1200" cap="none" dirty="0">
                <a:solidFill>
                  <a:srgbClr val="000000"/>
                </a:solidFill>
                <a:ea typeface="Nunito"/>
                <a:cs typeface="Times New Roman"/>
              </a:rPr>
              <a:t>Provided personalized and world-class support to companies receiving any type of technical support from Dell EMC.</a:t>
            </a:r>
          </a:p>
          <a:p>
            <a:pPr lvl="0">
              <a:lnSpc>
                <a:spcPts val="1000"/>
              </a:lnSpc>
              <a:spcBef>
                <a:spcPts val="200"/>
              </a:spcBef>
            </a:pPr>
            <a:r>
              <a:rPr lang="en-US" sz="1200" b="1" i="1" cap="none" dirty="0">
                <a:solidFill>
                  <a:srgbClr val="000000"/>
                </a:solidFill>
                <a:ea typeface="Nunito"/>
                <a:cs typeface="Times New Roman"/>
              </a:rPr>
              <a:t>Server Assembly &amp; Workstation Solutions: </a:t>
            </a:r>
            <a:r>
              <a:rPr lang="en-US" sz="1200" cap="none" dirty="0">
                <a:solidFill>
                  <a:srgbClr val="000000"/>
                </a:solidFill>
                <a:ea typeface="Nunito"/>
                <a:cs typeface="Times New Roman"/>
              </a:rPr>
              <a:t>Handled tasks ranging from server assembly to simple workstation solutions, networks, and any type of activity working under a domain network managed by Nippon Telegraph and Telephone.</a:t>
            </a:r>
          </a:p>
          <a:p>
            <a:pPr lvl="0">
              <a:lnSpc>
                <a:spcPts val="1000"/>
              </a:lnSpc>
              <a:spcBef>
                <a:spcPts val="200"/>
              </a:spcBef>
            </a:pPr>
            <a:r>
              <a:rPr lang="en-US" sz="1200" b="1" i="1" cap="none" dirty="0">
                <a:solidFill>
                  <a:srgbClr val="000000"/>
                </a:solidFill>
                <a:ea typeface="Nunito"/>
                <a:cs typeface="Times New Roman"/>
              </a:rPr>
              <a:t>Scientific Research Support: </a:t>
            </a:r>
            <a:r>
              <a:rPr lang="en-US" sz="1200" cap="none" dirty="0">
                <a:solidFill>
                  <a:srgbClr val="000000"/>
                </a:solidFill>
                <a:ea typeface="Nunito"/>
                <a:cs typeface="Times New Roman"/>
              </a:rPr>
              <a:t>Managed equipment mostly used in scientific research projects, ensuring the safeguarding of sensitive information.</a:t>
            </a:r>
          </a:p>
          <a:p>
            <a:pPr lvl="0">
              <a:lnSpc>
                <a:spcPts val="1000"/>
              </a:lnSpc>
              <a:spcBef>
                <a:spcPts val="200"/>
              </a:spcBef>
            </a:pPr>
            <a:r>
              <a:rPr lang="en-US" sz="1200" b="1" i="1" cap="none" dirty="0">
                <a:solidFill>
                  <a:srgbClr val="000000"/>
                </a:solidFill>
                <a:ea typeface="Nunito"/>
                <a:cs typeface="Times New Roman"/>
              </a:rPr>
              <a:t>Ethics &amp; Confidentiality: </a:t>
            </a:r>
            <a:r>
              <a:rPr lang="en-US" sz="1200" cap="none" dirty="0">
                <a:solidFill>
                  <a:srgbClr val="000000"/>
                </a:solidFill>
                <a:ea typeface="Nunito"/>
                <a:cs typeface="Times New Roman"/>
              </a:rPr>
              <a:t>Upheld the precepts of respect and honesty in handling user information across all equipment.</a:t>
            </a:r>
            <a:endParaRPr lang="en-US" sz="1200" b="1" dirty="0"/>
          </a:p>
          <a:p>
            <a:pPr lvl="0">
              <a:lnSpc>
                <a:spcPts val="1000"/>
              </a:lnSpc>
              <a:spcBef>
                <a:spcPts val="200"/>
              </a:spcBef>
            </a:pPr>
            <a:endParaRPr lang="en-US" sz="1200" b="1" dirty="0">
              <a:solidFill>
                <a:srgbClr val="000000"/>
              </a:solidFill>
              <a:ea typeface="Nunito"/>
              <a:cs typeface="Times New Roman"/>
            </a:endParaRPr>
          </a:p>
        </p:txBody>
      </p:sp>
      <p:sp>
        <p:nvSpPr>
          <p:cNvPr id="13" name="Text Placeholder 56">
            <a:extLst>
              <a:ext uri="{FF2B5EF4-FFF2-40B4-BE49-F238E27FC236}">
                <a16:creationId xmlns="" xmlns:a16="http://schemas.microsoft.com/office/drawing/2014/main" id="{0D464243-B20F-7310-E459-52DDC9A14841}"/>
              </a:ext>
            </a:extLst>
          </p:cNvPr>
          <p:cNvSpPr txBox="1">
            <a:spLocks/>
          </p:cNvSpPr>
          <p:nvPr/>
        </p:nvSpPr>
        <p:spPr>
          <a:xfrm>
            <a:off x="3564880" y="4788024"/>
            <a:ext cx="2976100" cy="3888432"/>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sz="1000" b="0" kern="1200" cap="all" baseline="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0">
              <a:lnSpc>
                <a:spcPts val="1000"/>
              </a:lnSpc>
              <a:spcBef>
                <a:spcPts val="200"/>
              </a:spcBef>
            </a:pPr>
            <a:endParaRPr lang="en-US" sz="1200" b="1" dirty="0"/>
          </a:p>
          <a:p>
            <a:pPr lvl="0">
              <a:lnSpc>
                <a:spcPts val="1000"/>
              </a:lnSpc>
              <a:spcBef>
                <a:spcPts val="200"/>
              </a:spcBef>
            </a:pPr>
            <a:r>
              <a:rPr lang="en-US" sz="1200" b="1" dirty="0"/>
              <a:t>IT Department Manager</a:t>
            </a:r>
          </a:p>
          <a:p>
            <a:pPr lvl="0">
              <a:lnSpc>
                <a:spcPts val="1000"/>
              </a:lnSpc>
              <a:spcBef>
                <a:spcPts val="200"/>
              </a:spcBef>
            </a:pPr>
            <a:r>
              <a:rPr lang="en-US" sz="1200" b="1" dirty="0"/>
              <a:t>CALIENTE CASINO</a:t>
            </a:r>
          </a:p>
          <a:p>
            <a:pPr lvl="0">
              <a:lnSpc>
                <a:spcPts val="1000"/>
              </a:lnSpc>
              <a:spcBef>
                <a:spcPts val="200"/>
              </a:spcBef>
            </a:pPr>
            <a:r>
              <a:rPr lang="en-US" sz="1200" b="1" dirty="0"/>
              <a:t>August 2014 - August 2015  </a:t>
            </a:r>
          </a:p>
          <a:p>
            <a:pPr>
              <a:lnSpc>
                <a:spcPts val="1000"/>
              </a:lnSpc>
              <a:spcBef>
                <a:spcPts val="200"/>
              </a:spcBef>
            </a:pPr>
            <a:r>
              <a:rPr lang="en-US" sz="1200" b="1" dirty="0"/>
              <a:t>Culiacan, </a:t>
            </a:r>
            <a:r>
              <a:rPr lang="en-US" sz="1200" b="1" dirty="0" err="1"/>
              <a:t>mexico</a:t>
            </a:r>
            <a:r>
              <a:rPr lang="en-US" sz="1200" b="1" dirty="0"/>
              <a:t> </a:t>
            </a:r>
            <a:endParaRPr lang="en-US" sz="1200" b="1" cap="none" dirty="0">
              <a:solidFill>
                <a:srgbClr val="000000"/>
              </a:solidFill>
              <a:ea typeface="Nunito"/>
              <a:cs typeface="Times New Roman"/>
            </a:endParaRPr>
          </a:p>
          <a:p>
            <a:pPr lvl="0">
              <a:lnSpc>
                <a:spcPts val="1000"/>
              </a:lnSpc>
              <a:spcBef>
                <a:spcPts val="200"/>
              </a:spcBef>
            </a:pPr>
            <a:r>
              <a:rPr lang="en-US" sz="1200" cap="none" dirty="0">
                <a:solidFill>
                  <a:srgbClr val="000000"/>
                </a:solidFill>
                <a:ea typeface="Nunito"/>
                <a:cs typeface="Times New Roman"/>
              </a:rPr>
              <a:t>Strong skills in managing IT resources, warehouse management, and cost analysis. Ability to perform under high commercial demand. </a:t>
            </a:r>
          </a:p>
          <a:p>
            <a:pPr lvl="0">
              <a:lnSpc>
                <a:spcPts val="1000"/>
              </a:lnSpc>
              <a:spcBef>
                <a:spcPts val="200"/>
              </a:spcBef>
            </a:pPr>
            <a:endParaRPr lang="en-US" sz="1200" b="1" i="1" cap="none" dirty="0">
              <a:solidFill>
                <a:srgbClr val="000000"/>
              </a:solidFill>
              <a:ea typeface="Nunito"/>
              <a:cs typeface="Times New Roman"/>
            </a:endParaRPr>
          </a:p>
          <a:p>
            <a:pPr lvl="0">
              <a:lnSpc>
                <a:spcPts val="1000"/>
              </a:lnSpc>
              <a:spcBef>
                <a:spcPts val="200"/>
              </a:spcBef>
            </a:pPr>
            <a:r>
              <a:rPr lang="en-US" sz="1200" b="1" i="1" cap="none" dirty="0">
                <a:solidFill>
                  <a:srgbClr val="000000"/>
                </a:solidFill>
                <a:ea typeface="Nunito"/>
                <a:cs typeface="Times New Roman"/>
              </a:rPr>
              <a:t>IT Resource Management: </a:t>
            </a:r>
            <a:r>
              <a:rPr lang="en-US" sz="1200" cap="none" dirty="0">
                <a:solidFill>
                  <a:srgbClr val="000000"/>
                </a:solidFill>
                <a:ea typeface="Nunito"/>
                <a:cs typeface="Times New Roman"/>
              </a:rPr>
              <a:t>Managed all IT resources of the company, including planning and installation of projects, coordinating maintenance strategies, and providing support.</a:t>
            </a:r>
          </a:p>
          <a:p>
            <a:pPr lvl="0">
              <a:lnSpc>
                <a:spcPts val="1000"/>
              </a:lnSpc>
              <a:spcBef>
                <a:spcPts val="200"/>
              </a:spcBef>
            </a:pPr>
            <a:r>
              <a:rPr lang="en-US" sz="1200" b="1" i="1" cap="none" dirty="0">
                <a:solidFill>
                  <a:srgbClr val="000000"/>
                </a:solidFill>
                <a:ea typeface="Nunito"/>
                <a:cs typeface="Times New Roman"/>
              </a:rPr>
              <a:t>Warehouse Management: </a:t>
            </a:r>
            <a:r>
              <a:rPr lang="en-US" sz="1200" cap="none" dirty="0">
                <a:solidFill>
                  <a:srgbClr val="000000"/>
                </a:solidFill>
                <a:ea typeface="Nunito"/>
                <a:cs typeface="Times New Roman"/>
              </a:rPr>
              <a:t>Controlled the regional warehouse of consumables and spare parts, and handled national shipments.</a:t>
            </a:r>
          </a:p>
          <a:p>
            <a:pPr lvl="0">
              <a:lnSpc>
                <a:spcPts val="1000"/>
              </a:lnSpc>
              <a:spcBef>
                <a:spcPts val="200"/>
              </a:spcBef>
            </a:pPr>
            <a:r>
              <a:rPr lang="en-US" sz="1200" b="1" i="1" cap="none" dirty="0">
                <a:solidFill>
                  <a:srgbClr val="000000"/>
                </a:solidFill>
                <a:ea typeface="Nunito"/>
                <a:cs typeface="Times New Roman"/>
              </a:rPr>
              <a:t>Purchasing &amp; Cost Analysis: </a:t>
            </a:r>
            <a:r>
              <a:rPr lang="en-US" sz="1200" cap="none" dirty="0">
                <a:solidFill>
                  <a:srgbClr val="000000"/>
                </a:solidFill>
                <a:ea typeface="Nunito"/>
                <a:cs typeface="Times New Roman"/>
              </a:rPr>
              <a:t>Responsible for purchases and cost analysis of materials and devices required for proper maintenance and control of systems. Aimed to minimize costs of repairs or replacements caused by equipment breakdown.</a:t>
            </a:r>
          </a:p>
          <a:p>
            <a:pPr lvl="0">
              <a:lnSpc>
                <a:spcPts val="1000"/>
              </a:lnSpc>
              <a:spcBef>
                <a:spcPts val="200"/>
              </a:spcBef>
            </a:pPr>
            <a:r>
              <a:rPr lang="en-US" sz="1200" b="1" i="1" cap="none" dirty="0">
                <a:solidFill>
                  <a:srgbClr val="000000"/>
                </a:solidFill>
                <a:ea typeface="Nunito"/>
                <a:cs typeface="Times New Roman"/>
              </a:rPr>
              <a:t>High Demand Support: </a:t>
            </a:r>
            <a:r>
              <a:rPr lang="en-US" sz="1200" cap="none" dirty="0">
                <a:solidFill>
                  <a:srgbClr val="000000"/>
                </a:solidFill>
                <a:ea typeface="Nunito"/>
                <a:cs typeface="Times New Roman"/>
              </a:rPr>
              <a:t>Carried out activities in times of high commercial demand or in extraordinary tasks.</a:t>
            </a:r>
            <a:endParaRPr lang="en-US" sz="1200" dirty="0"/>
          </a:p>
          <a:p>
            <a:pPr lvl="0">
              <a:lnSpc>
                <a:spcPts val="1000"/>
              </a:lnSpc>
              <a:spcBef>
                <a:spcPts val="200"/>
              </a:spcBef>
            </a:pPr>
            <a:endParaRPr lang="en-US" sz="1200" b="1" dirty="0" smtClean="0"/>
          </a:p>
          <a:p>
            <a:pPr lvl="0">
              <a:lnSpc>
                <a:spcPts val="1000"/>
              </a:lnSpc>
              <a:spcBef>
                <a:spcPts val="200"/>
              </a:spcBef>
            </a:pPr>
            <a:endParaRPr lang="en-US" sz="1200" b="1" dirty="0" smtClean="0"/>
          </a:p>
          <a:p>
            <a:pPr lvl="0">
              <a:lnSpc>
                <a:spcPts val="1000"/>
              </a:lnSpc>
              <a:spcBef>
                <a:spcPts val="200"/>
              </a:spcBef>
            </a:pPr>
            <a:endParaRPr lang="en-US" sz="1200" b="1" dirty="0" smtClean="0"/>
          </a:p>
          <a:p>
            <a:pPr lvl="0"/>
            <a:endParaRPr kumimoji="0" lang="en-US" sz="1200" b="0" u="none" strike="noStrike" kern="1200" cap="all"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24580632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56">
            <a:extLst>
              <a:ext uri="{FF2B5EF4-FFF2-40B4-BE49-F238E27FC236}">
                <a16:creationId xmlns="" xmlns:a16="http://schemas.microsoft.com/office/drawing/2014/main" id="{0D464243-B20F-7310-E459-52DDC9A14841}"/>
              </a:ext>
            </a:extLst>
          </p:cNvPr>
          <p:cNvSpPr txBox="1">
            <a:spLocks/>
          </p:cNvSpPr>
          <p:nvPr/>
        </p:nvSpPr>
        <p:spPr>
          <a:xfrm>
            <a:off x="335104" y="4895528"/>
            <a:ext cx="2976100" cy="4248472"/>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sz="1000" b="0" kern="1200" cap="all" baseline="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0">
              <a:lnSpc>
                <a:spcPts val="1000"/>
              </a:lnSpc>
              <a:spcBef>
                <a:spcPts val="200"/>
              </a:spcBef>
            </a:pPr>
            <a:r>
              <a:rPr lang="en-US" sz="1200" b="1" dirty="0" smtClean="0"/>
              <a:t>AT&amp;T IT </a:t>
            </a:r>
            <a:r>
              <a:rPr lang="en-US" sz="1200" b="1" dirty="0"/>
              <a:t>Certified Technical Support </a:t>
            </a:r>
            <a:endParaRPr lang="en-US" sz="1200" b="1" dirty="0" smtClean="0"/>
          </a:p>
          <a:p>
            <a:pPr lvl="0">
              <a:lnSpc>
                <a:spcPts val="1000"/>
              </a:lnSpc>
              <a:spcBef>
                <a:spcPts val="200"/>
              </a:spcBef>
            </a:pPr>
            <a:r>
              <a:rPr lang="en-US" sz="1200" b="1" dirty="0" err="1" smtClean="0"/>
              <a:t>Grupo</a:t>
            </a:r>
            <a:r>
              <a:rPr lang="en-US" sz="1200" b="1" dirty="0" smtClean="0"/>
              <a:t> </a:t>
            </a:r>
            <a:r>
              <a:rPr lang="en-US" sz="1200" b="1" dirty="0" err="1"/>
              <a:t>Técnico</a:t>
            </a:r>
            <a:r>
              <a:rPr lang="en-US" sz="1200" b="1" dirty="0"/>
              <a:t> de </a:t>
            </a:r>
            <a:r>
              <a:rPr lang="en-US" sz="1200" b="1" dirty="0" err="1"/>
              <a:t>Servicios</a:t>
            </a:r>
            <a:r>
              <a:rPr lang="en-US" sz="1200" b="1" dirty="0"/>
              <a:t> </a:t>
            </a:r>
            <a:r>
              <a:rPr lang="en-US" sz="1200" b="1" dirty="0" err="1" smtClean="0"/>
              <a:t>Telvista</a:t>
            </a:r>
            <a:endParaRPr lang="en-US" sz="1200" b="1" dirty="0" smtClean="0"/>
          </a:p>
          <a:p>
            <a:pPr lvl="0">
              <a:lnSpc>
                <a:spcPts val="1000"/>
              </a:lnSpc>
              <a:spcBef>
                <a:spcPts val="200"/>
              </a:spcBef>
            </a:pPr>
            <a:r>
              <a:rPr lang="en-US" sz="1200" b="1" dirty="0"/>
              <a:t>October 2010 - May 2011 </a:t>
            </a:r>
            <a:endParaRPr lang="en-US" sz="1200" b="1" dirty="0" smtClean="0"/>
          </a:p>
          <a:p>
            <a:pPr lvl="0">
              <a:lnSpc>
                <a:spcPts val="1000"/>
              </a:lnSpc>
              <a:spcBef>
                <a:spcPts val="200"/>
              </a:spcBef>
            </a:pPr>
            <a:r>
              <a:rPr lang="en-US" sz="1200" b="1" cap="none" dirty="0" smtClean="0">
                <a:solidFill>
                  <a:srgbClr val="000000"/>
                </a:solidFill>
                <a:latin typeface="+mj-lt"/>
                <a:ea typeface="Nunito"/>
                <a:cs typeface="Times New Roman"/>
              </a:rPr>
              <a:t>MEXICALI, MEXICO</a:t>
            </a:r>
          </a:p>
          <a:p>
            <a:pPr lvl="0" defTabSz="914400">
              <a:lnSpc>
                <a:spcPts val="1000"/>
              </a:lnSpc>
              <a:spcBef>
                <a:spcPts val="200"/>
              </a:spcBef>
            </a:pPr>
            <a:r>
              <a:rPr lang="en-US" sz="1200" cap="none" dirty="0" smtClean="0">
                <a:solidFill>
                  <a:srgbClr val="000000"/>
                </a:solidFill>
                <a:latin typeface="+mj-lt"/>
                <a:ea typeface="Nunito"/>
                <a:cs typeface="Times New Roman"/>
              </a:rPr>
              <a:t>Strong </a:t>
            </a:r>
            <a:r>
              <a:rPr lang="en-US" sz="1200" cap="none" dirty="0">
                <a:solidFill>
                  <a:srgbClr val="000000"/>
                </a:solidFill>
                <a:latin typeface="+mj-lt"/>
                <a:ea typeface="Nunito"/>
                <a:cs typeface="Times New Roman"/>
              </a:rPr>
              <a:t>skills in customer assistance, technical support, and training. C</a:t>
            </a:r>
            <a:r>
              <a:rPr lang="en-US" sz="1200" cap="none" dirty="0" smtClean="0">
                <a:solidFill>
                  <a:srgbClr val="000000"/>
                </a:solidFill>
                <a:latin typeface="+mj-lt"/>
                <a:ea typeface="Nunito"/>
                <a:cs typeface="Times New Roman"/>
              </a:rPr>
              <a:t>ommitted  </a:t>
            </a:r>
            <a:r>
              <a:rPr lang="en-US" sz="1200" cap="none" dirty="0">
                <a:solidFill>
                  <a:srgbClr val="000000"/>
                </a:solidFill>
                <a:latin typeface="+mj-lt"/>
                <a:ea typeface="Nunito"/>
                <a:cs typeface="Times New Roman"/>
              </a:rPr>
              <a:t>to quality and customer </a:t>
            </a:r>
            <a:r>
              <a:rPr lang="en-US" sz="1200" cap="none" dirty="0" smtClean="0">
                <a:solidFill>
                  <a:srgbClr val="000000"/>
                </a:solidFill>
                <a:latin typeface="+mj-lt"/>
                <a:ea typeface="Nunito"/>
                <a:cs typeface="Times New Roman"/>
              </a:rPr>
              <a:t>satisfaction. </a:t>
            </a:r>
          </a:p>
          <a:p>
            <a:pPr lvl="0" defTabSz="914400">
              <a:lnSpc>
                <a:spcPts val="1000"/>
              </a:lnSpc>
              <a:spcBef>
                <a:spcPts val="200"/>
              </a:spcBef>
            </a:pPr>
            <a:endParaRPr lang="en-US" sz="1200" b="1" cap="none" dirty="0" smtClean="0">
              <a:solidFill>
                <a:srgbClr val="000000"/>
              </a:solidFill>
              <a:latin typeface="+mj-lt"/>
              <a:cs typeface="Times New Roman"/>
            </a:endParaRPr>
          </a:p>
          <a:p>
            <a:pPr lvl="0" defTabSz="914400">
              <a:lnSpc>
                <a:spcPts val="1000"/>
              </a:lnSpc>
              <a:spcBef>
                <a:spcPts val="200"/>
              </a:spcBef>
            </a:pPr>
            <a:r>
              <a:rPr lang="en-US" sz="1200" b="1" i="1" cap="none" dirty="0">
                <a:solidFill>
                  <a:srgbClr val="000000"/>
                </a:solidFill>
                <a:latin typeface="+mj-lt"/>
                <a:cs typeface="Times New Roman"/>
              </a:rPr>
              <a:t>Customer Assistance &amp; Training: </a:t>
            </a:r>
            <a:r>
              <a:rPr lang="en-US" sz="1200" cap="none" dirty="0">
                <a:solidFill>
                  <a:srgbClr val="000000"/>
                </a:solidFill>
                <a:latin typeface="+mj-lt"/>
                <a:cs typeface="Times New Roman"/>
              </a:rPr>
              <a:t>Assisted and trained AT&amp;T customers in resolving Internet connectivity problems in a Call Center via telephone. Guided customers in modifying the computer’s operating system, local network, or wireless networks, and addressed any connectivity issues that hindered Internet access.</a:t>
            </a:r>
          </a:p>
          <a:p>
            <a:pPr lvl="0" defTabSz="914400">
              <a:lnSpc>
                <a:spcPts val="1000"/>
              </a:lnSpc>
              <a:spcBef>
                <a:spcPts val="200"/>
              </a:spcBef>
            </a:pPr>
            <a:r>
              <a:rPr lang="en-US" sz="1200" b="1" i="1" cap="none" dirty="0" smtClean="0">
                <a:solidFill>
                  <a:srgbClr val="000000"/>
                </a:solidFill>
                <a:latin typeface="+mj-lt"/>
                <a:cs typeface="Times New Roman"/>
              </a:rPr>
              <a:t>Technical </a:t>
            </a:r>
            <a:r>
              <a:rPr lang="en-US" sz="1200" b="1" i="1" cap="none" dirty="0">
                <a:solidFill>
                  <a:srgbClr val="000000"/>
                </a:solidFill>
                <a:latin typeface="+mj-lt"/>
                <a:cs typeface="Times New Roman"/>
              </a:rPr>
              <a:t>Support: </a:t>
            </a:r>
            <a:r>
              <a:rPr lang="en-US" sz="1200" cap="none" dirty="0">
                <a:solidFill>
                  <a:srgbClr val="000000"/>
                </a:solidFill>
                <a:latin typeface="+mj-lt"/>
                <a:cs typeface="Times New Roman"/>
              </a:rPr>
              <a:t>Provided technical support to ensure full operation of the terminal and identified faults in the installation of the local network.</a:t>
            </a:r>
          </a:p>
          <a:p>
            <a:pPr lvl="0" defTabSz="914400">
              <a:lnSpc>
                <a:spcPts val="1000"/>
              </a:lnSpc>
              <a:spcBef>
                <a:spcPts val="200"/>
              </a:spcBef>
            </a:pPr>
            <a:r>
              <a:rPr lang="en-US" sz="1200" b="1" i="1" cap="none" dirty="0" smtClean="0">
                <a:solidFill>
                  <a:srgbClr val="000000"/>
                </a:solidFill>
                <a:latin typeface="+mj-lt"/>
                <a:cs typeface="Times New Roman"/>
              </a:rPr>
              <a:t>Computer </a:t>
            </a:r>
            <a:r>
              <a:rPr lang="en-US" sz="1200" b="1" i="1" cap="none" dirty="0">
                <a:solidFill>
                  <a:srgbClr val="000000"/>
                </a:solidFill>
                <a:latin typeface="+mj-lt"/>
                <a:cs typeface="Times New Roman"/>
              </a:rPr>
              <a:t>Training: </a:t>
            </a:r>
            <a:r>
              <a:rPr lang="en-US" sz="1200" cap="none" dirty="0">
                <a:solidFill>
                  <a:srgbClr val="000000"/>
                </a:solidFill>
                <a:latin typeface="+mj-lt"/>
                <a:cs typeface="Times New Roman"/>
              </a:rPr>
              <a:t>Trained clients with low knowledge in the use of computers.</a:t>
            </a:r>
          </a:p>
          <a:p>
            <a:pPr lvl="0" defTabSz="914400">
              <a:lnSpc>
                <a:spcPts val="1000"/>
              </a:lnSpc>
              <a:spcBef>
                <a:spcPts val="200"/>
              </a:spcBef>
            </a:pPr>
            <a:r>
              <a:rPr lang="en-US" sz="1200" cap="none" dirty="0">
                <a:solidFill>
                  <a:srgbClr val="000000"/>
                </a:solidFill>
                <a:latin typeface="+mj-lt"/>
                <a:cs typeface="Times New Roman"/>
              </a:rPr>
              <a:t>Customer Satisfaction: Worked with a high sense of quality and aimed for 100% customer satisfaction.</a:t>
            </a:r>
          </a:p>
          <a:p>
            <a:pPr lvl="0" defTabSz="914400">
              <a:lnSpc>
                <a:spcPts val="1000"/>
              </a:lnSpc>
              <a:spcBef>
                <a:spcPts val="200"/>
              </a:spcBef>
            </a:pPr>
            <a:r>
              <a:rPr lang="en-US" sz="1200" b="1" i="1" cap="none" dirty="0" smtClean="0">
                <a:solidFill>
                  <a:srgbClr val="000000"/>
                </a:solidFill>
                <a:latin typeface="+mj-lt"/>
                <a:cs typeface="Times New Roman"/>
              </a:rPr>
              <a:t>Geographical </a:t>
            </a:r>
            <a:r>
              <a:rPr lang="en-US" sz="1200" b="1" i="1" cap="none" dirty="0">
                <a:solidFill>
                  <a:srgbClr val="000000"/>
                </a:solidFill>
                <a:latin typeface="+mj-lt"/>
                <a:cs typeface="Times New Roman"/>
              </a:rPr>
              <a:t>Coverage: </a:t>
            </a:r>
            <a:r>
              <a:rPr lang="en-US" sz="1200" cap="none" dirty="0">
                <a:solidFill>
                  <a:srgbClr val="000000"/>
                </a:solidFill>
                <a:latin typeface="+mj-lt"/>
                <a:cs typeface="Times New Roman"/>
              </a:rPr>
              <a:t>Provided technical support to AT&amp;T customers from 13 states in the United States of America.</a:t>
            </a:r>
          </a:p>
          <a:p>
            <a:pPr lvl="0" defTabSz="914400">
              <a:lnSpc>
                <a:spcPts val="1000"/>
              </a:lnSpc>
              <a:spcBef>
                <a:spcPts val="200"/>
              </a:spcBef>
            </a:pPr>
            <a:endParaRPr lang="en-US" sz="1200" dirty="0" smtClean="0"/>
          </a:p>
          <a:p>
            <a:pPr lvl="0"/>
            <a:endParaRPr lang="en-US" sz="1200" dirty="0" smtClean="0"/>
          </a:p>
          <a:p>
            <a:pPr lvl="0"/>
            <a:endParaRPr lang="en-US" sz="1200" dirty="0"/>
          </a:p>
          <a:p>
            <a:pPr lvl="0"/>
            <a:endParaRPr lang="en-US" sz="1200" dirty="0" smtClean="0"/>
          </a:p>
          <a:p>
            <a:pPr lvl="0"/>
            <a:endParaRPr lang="en-US" sz="1200" dirty="0"/>
          </a:p>
          <a:p>
            <a:pPr lvl="0"/>
            <a:endParaRPr lang="en-US" sz="1200" dirty="0" smtClean="0"/>
          </a:p>
          <a:p>
            <a:pPr lvl="0"/>
            <a:endParaRPr kumimoji="0" lang="en-US" sz="1200" i="0" u="none" strike="noStrike" kern="1200" cap="all" spc="0" normalizeH="0" baseline="0" noProof="0" dirty="0">
              <a:ln>
                <a:noFill/>
              </a:ln>
              <a:solidFill>
                <a:srgbClr val="000000"/>
              </a:solidFill>
              <a:effectLst/>
              <a:uLnTx/>
              <a:uFillTx/>
              <a:latin typeface="Arial"/>
            </a:endParaRPr>
          </a:p>
        </p:txBody>
      </p:sp>
      <p:sp>
        <p:nvSpPr>
          <p:cNvPr id="6" name="Text Placeholder 56">
            <a:extLst>
              <a:ext uri="{FF2B5EF4-FFF2-40B4-BE49-F238E27FC236}">
                <a16:creationId xmlns="" xmlns:a16="http://schemas.microsoft.com/office/drawing/2014/main" id="{0D464243-B20F-7310-E459-52DDC9A14841}"/>
              </a:ext>
            </a:extLst>
          </p:cNvPr>
          <p:cNvSpPr txBox="1">
            <a:spLocks/>
          </p:cNvSpPr>
          <p:nvPr/>
        </p:nvSpPr>
        <p:spPr>
          <a:xfrm>
            <a:off x="335104" y="856659"/>
            <a:ext cx="2976100" cy="4471541"/>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sz="1000" b="0" kern="1200" cap="all" baseline="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0">
              <a:lnSpc>
                <a:spcPts val="1000"/>
              </a:lnSpc>
              <a:spcBef>
                <a:spcPts val="200"/>
              </a:spcBef>
            </a:pPr>
            <a:r>
              <a:rPr lang="en-US" sz="1200" b="1" dirty="0" smtClean="0"/>
              <a:t>IT </a:t>
            </a:r>
            <a:r>
              <a:rPr lang="en-US" sz="1200" b="1" dirty="0"/>
              <a:t>Support Engineer</a:t>
            </a:r>
          </a:p>
          <a:p>
            <a:pPr lvl="0">
              <a:lnSpc>
                <a:spcPts val="1000"/>
              </a:lnSpc>
              <a:spcBef>
                <a:spcPts val="200"/>
              </a:spcBef>
            </a:pPr>
            <a:r>
              <a:rPr lang="en-US" sz="1200" b="1" dirty="0"/>
              <a:t>CALIENTE CASINO</a:t>
            </a:r>
          </a:p>
          <a:p>
            <a:pPr lvl="0">
              <a:lnSpc>
                <a:spcPts val="1000"/>
              </a:lnSpc>
              <a:spcBef>
                <a:spcPts val="200"/>
              </a:spcBef>
            </a:pPr>
            <a:r>
              <a:rPr lang="en-US" sz="1200" b="1" dirty="0"/>
              <a:t>May 2011 - May 2014 </a:t>
            </a:r>
          </a:p>
          <a:p>
            <a:pPr lvl="0">
              <a:lnSpc>
                <a:spcPts val="1000"/>
              </a:lnSpc>
              <a:spcBef>
                <a:spcPts val="200"/>
              </a:spcBef>
            </a:pPr>
            <a:r>
              <a:rPr lang="en-US" sz="1200" b="1" dirty="0"/>
              <a:t>Culiacan, </a:t>
            </a:r>
            <a:r>
              <a:rPr lang="en-US" sz="1200" b="1" dirty="0" err="1"/>
              <a:t>mexico</a:t>
            </a:r>
            <a:r>
              <a:rPr lang="en-US" sz="1200" b="1" dirty="0"/>
              <a:t> </a:t>
            </a:r>
          </a:p>
          <a:p>
            <a:pPr lvl="0">
              <a:lnSpc>
                <a:spcPts val="1000"/>
              </a:lnSpc>
              <a:spcBef>
                <a:spcPts val="200"/>
              </a:spcBef>
            </a:pPr>
            <a:r>
              <a:rPr lang="en-US" sz="1200" cap="none" dirty="0">
                <a:solidFill>
                  <a:srgbClr val="000000"/>
                </a:solidFill>
                <a:ea typeface="Nunito"/>
                <a:cs typeface="Times New Roman"/>
              </a:rPr>
              <a:t>Wide range of skills from structured cabling to equipment diagnosis and maintenance. Ability to provide high-quality technical support and </a:t>
            </a:r>
            <a:r>
              <a:rPr lang="en-US" sz="1200" cap="none" dirty="0" err="1">
                <a:solidFill>
                  <a:srgbClr val="000000"/>
                </a:solidFill>
                <a:ea typeface="Nunito"/>
                <a:cs typeface="Times New Roman"/>
              </a:rPr>
              <a:t>committment</a:t>
            </a:r>
            <a:r>
              <a:rPr lang="en-US" sz="1200" cap="none" dirty="0">
                <a:solidFill>
                  <a:srgbClr val="000000"/>
                </a:solidFill>
                <a:ea typeface="Nunito"/>
                <a:cs typeface="Times New Roman"/>
              </a:rPr>
              <a:t> to service excellence. </a:t>
            </a:r>
          </a:p>
          <a:p>
            <a:pPr lvl="0">
              <a:lnSpc>
                <a:spcPts val="1000"/>
              </a:lnSpc>
              <a:spcBef>
                <a:spcPts val="200"/>
              </a:spcBef>
            </a:pPr>
            <a:r>
              <a:rPr lang="en-US" sz="1200" b="1" i="1" cap="none" dirty="0" smtClean="0">
                <a:solidFill>
                  <a:srgbClr val="000000"/>
                </a:solidFill>
                <a:ea typeface="Nunito"/>
                <a:cs typeface="Times New Roman"/>
              </a:rPr>
              <a:t>Structured </a:t>
            </a:r>
            <a:r>
              <a:rPr lang="en-US" sz="1200" b="1" i="1" cap="none" dirty="0">
                <a:solidFill>
                  <a:srgbClr val="000000"/>
                </a:solidFill>
                <a:ea typeface="Nunito"/>
                <a:cs typeface="Times New Roman"/>
              </a:rPr>
              <a:t>Cabling: </a:t>
            </a:r>
            <a:r>
              <a:rPr lang="en-US" sz="1200" cap="none" dirty="0">
                <a:solidFill>
                  <a:srgbClr val="000000"/>
                </a:solidFill>
                <a:ea typeface="Nunito"/>
                <a:cs typeface="Times New Roman"/>
              </a:rPr>
              <a:t>Supervised and prepared structured cabling for the company’s network infrastructure.</a:t>
            </a:r>
          </a:p>
          <a:p>
            <a:pPr lvl="0">
              <a:lnSpc>
                <a:spcPts val="1000"/>
              </a:lnSpc>
              <a:spcBef>
                <a:spcPts val="200"/>
              </a:spcBef>
            </a:pPr>
            <a:r>
              <a:rPr lang="en-US" sz="1200" b="1" i="1" cap="none" dirty="0">
                <a:solidFill>
                  <a:srgbClr val="000000"/>
                </a:solidFill>
                <a:ea typeface="Nunito"/>
                <a:cs typeface="Times New Roman"/>
              </a:rPr>
              <a:t>Equipment Diagnosis &amp; Maintenance: </a:t>
            </a:r>
            <a:r>
              <a:rPr lang="en-US" sz="1200" cap="none" dirty="0">
                <a:solidFill>
                  <a:srgbClr val="000000"/>
                </a:solidFill>
                <a:ea typeface="Nunito"/>
                <a:cs typeface="Times New Roman"/>
              </a:rPr>
              <a:t>Diagnosed faults in computer equipment, performed preventive maintenance, and supervised the assembly of computer equipment and all hardware.</a:t>
            </a:r>
          </a:p>
          <a:p>
            <a:pPr lvl="0">
              <a:lnSpc>
                <a:spcPts val="1000"/>
              </a:lnSpc>
              <a:spcBef>
                <a:spcPts val="200"/>
              </a:spcBef>
            </a:pPr>
            <a:r>
              <a:rPr lang="en-US" sz="1200" b="1" i="1" cap="none" dirty="0">
                <a:solidFill>
                  <a:srgbClr val="000000"/>
                </a:solidFill>
                <a:ea typeface="Nunito"/>
                <a:cs typeface="Times New Roman"/>
              </a:rPr>
              <a:t>Inventory &amp; Warehouse Control: </a:t>
            </a:r>
            <a:r>
              <a:rPr lang="en-US" sz="1200" cap="none" dirty="0">
                <a:solidFill>
                  <a:srgbClr val="000000"/>
                </a:solidFill>
                <a:ea typeface="Nunito"/>
                <a:cs typeface="Times New Roman"/>
              </a:rPr>
              <a:t>Managed inventory and warehouse control.</a:t>
            </a:r>
          </a:p>
          <a:p>
            <a:pPr lvl="0">
              <a:lnSpc>
                <a:spcPts val="1000"/>
              </a:lnSpc>
              <a:spcBef>
                <a:spcPts val="200"/>
              </a:spcBef>
            </a:pPr>
            <a:r>
              <a:rPr lang="en-US" sz="1200" b="1" i="1" cap="none" dirty="0">
                <a:solidFill>
                  <a:srgbClr val="000000"/>
                </a:solidFill>
                <a:ea typeface="Nunito"/>
                <a:cs typeface="Times New Roman"/>
              </a:rPr>
              <a:t>Technical Support &amp; Training: </a:t>
            </a:r>
            <a:r>
              <a:rPr lang="en-US" sz="1200" cap="none" dirty="0">
                <a:solidFill>
                  <a:srgbClr val="000000"/>
                </a:solidFill>
                <a:ea typeface="Nunito"/>
                <a:cs typeface="Times New Roman"/>
              </a:rPr>
              <a:t>Provided personalized, high-quality technical support and training in the use of software and hardware required in the company.</a:t>
            </a:r>
          </a:p>
          <a:p>
            <a:pPr lvl="0">
              <a:lnSpc>
                <a:spcPts val="1000"/>
              </a:lnSpc>
              <a:spcBef>
                <a:spcPts val="200"/>
              </a:spcBef>
            </a:pPr>
            <a:r>
              <a:rPr lang="en-US" sz="1200" b="1" i="1" cap="none" dirty="0">
                <a:solidFill>
                  <a:srgbClr val="000000"/>
                </a:solidFill>
                <a:ea typeface="Nunito"/>
                <a:cs typeface="Times New Roman"/>
              </a:rPr>
              <a:t>Maintenance Plans &amp; Equipment Review: </a:t>
            </a:r>
            <a:r>
              <a:rPr lang="en-US" sz="1200" cap="none" dirty="0">
                <a:solidFill>
                  <a:srgbClr val="000000"/>
                </a:solidFill>
                <a:ea typeface="Nunito"/>
                <a:cs typeface="Times New Roman"/>
              </a:rPr>
              <a:t>Monitored maintenance plans, reviewed, and diagnosed terminals in casinos such as Bally, IGT, Williams, Global Draw, Ainsworth, Shuffle Master among others.</a:t>
            </a:r>
            <a:endParaRPr lang="en-US" sz="1200" dirty="0">
              <a:solidFill>
                <a:srgbClr val="000000"/>
              </a:solidFill>
            </a:endParaRPr>
          </a:p>
          <a:p>
            <a:pPr lvl="0">
              <a:lnSpc>
                <a:spcPts val="1000"/>
              </a:lnSpc>
              <a:spcBef>
                <a:spcPts val="200"/>
              </a:spcBef>
            </a:pPr>
            <a:endParaRPr lang="en-US" sz="1200" b="1" dirty="0" smtClean="0"/>
          </a:p>
          <a:p>
            <a:pPr lvl="0"/>
            <a:endParaRPr kumimoji="0" lang="en-US" sz="1200" b="0" u="none" strike="noStrike" kern="1200" cap="all" spc="0" normalizeH="0" baseline="0" noProof="0" dirty="0">
              <a:ln>
                <a:noFill/>
              </a:ln>
              <a:solidFill>
                <a:srgbClr val="000000"/>
              </a:solidFill>
              <a:effectLst/>
              <a:uLnTx/>
              <a:uFillTx/>
            </a:endParaRPr>
          </a:p>
        </p:txBody>
      </p:sp>
      <p:sp>
        <p:nvSpPr>
          <p:cNvPr id="7" name="Text Placeholder 37">
            <a:extLst>
              <a:ext uri="{FF2B5EF4-FFF2-40B4-BE49-F238E27FC236}">
                <a16:creationId xmlns="" xmlns:a16="http://schemas.microsoft.com/office/drawing/2014/main" id="{5491332B-F4C1-A0E1-A243-C0CE24E11292}"/>
              </a:ext>
            </a:extLst>
          </p:cNvPr>
          <p:cNvSpPr txBox="1">
            <a:spLocks/>
          </p:cNvSpPr>
          <p:nvPr/>
        </p:nvSpPr>
        <p:spPr>
          <a:xfrm>
            <a:off x="335104" y="546669"/>
            <a:ext cx="2542032" cy="280987"/>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400" kern="1200" cap="all" baseline="0">
                <a:solidFill>
                  <a:schemeClr val="tx1"/>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1400" b="0" i="0" u="none" strike="noStrike" kern="1200" cap="all" spc="0" normalizeH="0" baseline="0" noProof="0" dirty="0" smtClean="0">
                <a:ln>
                  <a:noFill/>
                </a:ln>
                <a:solidFill>
                  <a:srgbClr val="000000"/>
                </a:solidFill>
                <a:effectLst/>
                <a:uLnTx/>
                <a:uFillTx/>
                <a:latin typeface="Arial Black"/>
                <a:ea typeface="+mn-ea"/>
                <a:cs typeface="+mn-cs"/>
              </a:rPr>
              <a:t>EXPERIENCE</a:t>
            </a:r>
            <a:endParaRPr kumimoji="0" lang="en-US" sz="1400" b="0" i="0" u="none" strike="noStrike" kern="1200" cap="all" spc="0" normalizeH="0" baseline="0" noProof="0" dirty="0">
              <a:ln>
                <a:noFill/>
              </a:ln>
              <a:solidFill>
                <a:srgbClr val="000000"/>
              </a:solidFill>
              <a:effectLst/>
              <a:uLnTx/>
              <a:uFillTx/>
              <a:latin typeface="Arial Black"/>
              <a:ea typeface="+mn-ea"/>
              <a:cs typeface="+mn-cs"/>
            </a:endParaRPr>
          </a:p>
        </p:txBody>
      </p:sp>
      <p:cxnSp>
        <p:nvCxnSpPr>
          <p:cNvPr id="8" name="Straight Connector 5"/>
          <p:cNvCxnSpPr/>
          <p:nvPr/>
        </p:nvCxnSpPr>
        <p:spPr>
          <a:xfrm>
            <a:off x="423404" y="510820"/>
            <a:ext cx="1078992" cy="0"/>
          </a:xfrm>
          <a:prstGeom prst="line">
            <a:avLst/>
          </a:prstGeom>
          <a:noFill/>
          <a:ln w="50800" cap="flat" cmpd="sng" algn="ctr">
            <a:solidFill>
              <a:srgbClr val="000000"/>
            </a:solidFill>
            <a:prstDash val="solid"/>
            <a:miter lim="800000"/>
          </a:ln>
          <a:effectLst/>
        </p:spPr>
      </p:cxnSp>
    </p:spTree>
    <p:extLst>
      <p:ext uri="{BB962C8B-B14F-4D97-AF65-F5344CB8AC3E}">
        <p14:creationId xmlns:p14="http://schemas.microsoft.com/office/powerpoint/2010/main" val="23176527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284</TotalTime>
  <Words>1227</Words>
  <Application>Microsoft Office PowerPoint</Application>
  <PresentationFormat>Presentación en pantalla (4:3)</PresentationFormat>
  <Paragraphs>139</Paragraphs>
  <Slides>3</Slides>
  <Notes>1</Notes>
  <HiddenSlides>0</HiddenSlides>
  <MMClips>0</MMClips>
  <ScaleCrop>false</ScaleCrop>
  <HeadingPairs>
    <vt:vector size="4" baseType="variant">
      <vt:variant>
        <vt:lpstr>Tema</vt:lpstr>
      </vt:variant>
      <vt:variant>
        <vt:i4>1</vt:i4>
      </vt:variant>
      <vt:variant>
        <vt:lpstr>Títulos de diapositiva</vt:lpstr>
      </vt:variant>
      <vt:variant>
        <vt:i4>3</vt:i4>
      </vt:variant>
    </vt:vector>
  </HeadingPairs>
  <TitlesOfParts>
    <vt:vector size="4" baseType="lpstr">
      <vt:lpstr>Office Theme</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Juan Francisco Lugo</dc:creator>
  <cp:lastModifiedBy>Juan Francisco Lugo</cp:lastModifiedBy>
  <cp:revision>28</cp:revision>
  <dcterms:created xsi:type="dcterms:W3CDTF">2023-09-26T19:36:24Z</dcterms:created>
  <dcterms:modified xsi:type="dcterms:W3CDTF">2024-03-21T19:55:05Z</dcterms:modified>
</cp:coreProperties>
</file>